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2d40f7375c4fa7" /><Relationship Type="http://schemas.openxmlformats.org/officeDocument/2006/relationships/extended-properties" Target="/docProps/app.xml" Id="Ra3754c5f32e840be" /><Relationship Type="http://schemas.openxmlformats.org/officeDocument/2006/relationships/officeDocument" Target="/ppt/presentation.xml" Id="R28c03cd64a7f4c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308ce3e7964e40"/>
  </p:sldMasterIdLst>
  <p:notesMasterIdLst>
    <p:notesMasterId xmlns:r="http://schemas.openxmlformats.org/officeDocument/2006/relationships" r:id="R81c4bf11230f4f12"/>
  </p:notesMasterIdLst>
  <p:sldIdLst>
    <p:sldId xmlns:r="http://schemas.openxmlformats.org/officeDocument/2006/relationships" id="256" r:id="R3d09e02971a1485d"/>
    <p:sldId xmlns:r="http://schemas.openxmlformats.org/officeDocument/2006/relationships" id="257" r:id="R96a8e2beb82f4834"/>
    <p:sldId xmlns:r="http://schemas.openxmlformats.org/officeDocument/2006/relationships" id="258" r:id="Rcaca86dcc6a34939"/>
    <p:sldId xmlns:r="http://schemas.openxmlformats.org/officeDocument/2006/relationships" id="259" r:id="Rf7ed37d260874457"/>
    <p:sldId xmlns:r="http://schemas.openxmlformats.org/officeDocument/2006/relationships" id="260" r:id="R836c1501ef654900"/>
    <p:sldId xmlns:r="http://schemas.openxmlformats.org/officeDocument/2006/relationships" id="261" r:id="R843a2df4fe634fc5"/>
    <p:sldId xmlns:r="http://schemas.openxmlformats.org/officeDocument/2006/relationships" id="262" r:id="R46cbd26b483f4d9a"/>
    <p:sldId xmlns:r="http://schemas.openxmlformats.org/officeDocument/2006/relationships" id="263" r:id="R91292d12d1a24507"/>
    <p:sldId xmlns:r="http://schemas.openxmlformats.org/officeDocument/2006/relationships" id="264" r:id="R8c2b595d49904274"/>
    <p:sldId xmlns:r="http://schemas.openxmlformats.org/officeDocument/2006/relationships" id="265" r:id="Ra0b857a3aace4c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02d660551f48d4" /><Relationship Type="http://schemas.openxmlformats.org/officeDocument/2006/relationships/slideMaster" Target="/ppt/slideMasters/slideMaster1.xml" Id="R00308ce3e7964e40" /><Relationship Type="http://schemas.openxmlformats.org/officeDocument/2006/relationships/notesMaster" Target="/ppt/notesMasters/notesMaster1.xml" Id="R81c4bf11230f4f12" /><Relationship Type="http://schemas.openxmlformats.org/officeDocument/2006/relationships/presProps" Target="/ppt/presProps.xml" Id="R8f341b395f8d492a" /><Relationship Type="http://schemas.openxmlformats.org/officeDocument/2006/relationships/tableStyles" Target="/ppt/tableStyles.xml" Id="R3a66974915554cec" /><Relationship Type="http://schemas.openxmlformats.org/officeDocument/2006/relationships/slide" Target="/ppt/slides/slide1.xml" Id="R3d09e02971a1485d" /><Relationship Type="http://schemas.openxmlformats.org/officeDocument/2006/relationships/slide" Target="/ppt/slides/slide2.xml" Id="R96a8e2beb82f4834" /><Relationship Type="http://schemas.openxmlformats.org/officeDocument/2006/relationships/slide" Target="/ppt/slides/slide3.xml" Id="Rcaca86dcc6a34939" /><Relationship Type="http://schemas.openxmlformats.org/officeDocument/2006/relationships/slide" Target="/ppt/slides/slide4.xml" Id="Rf7ed37d260874457" /><Relationship Type="http://schemas.openxmlformats.org/officeDocument/2006/relationships/slide" Target="/ppt/slides/slide5.xml" Id="R836c1501ef654900" /><Relationship Type="http://schemas.openxmlformats.org/officeDocument/2006/relationships/slide" Target="/ppt/slides/slide6.xml" Id="R843a2df4fe634fc5" /><Relationship Type="http://schemas.openxmlformats.org/officeDocument/2006/relationships/slide" Target="/ppt/slides/slide7.xml" Id="R46cbd26b483f4d9a" /><Relationship Type="http://schemas.openxmlformats.org/officeDocument/2006/relationships/slide" Target="/ppt/slides/slide8.xml" Id="R91292d12d1a24507" /><Relationship Type="http://schemas.openxmlformats.org/officeDocument/2006/relationships/slide" Target="/ppt/slides/slide9.xml" Id="R8c2b595d49904274" /><Relationship Type="http://schemas.openxmlformats.org/officeDocument/2006/relationships/slide" Target="/ppt/slides/slide10.xml" Id="Ra0b857a3aace4c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a55bd7b40145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5b8b645cfb4601" /><Relationship Type="http://schemas.openxmlformats.org/officeDocument/2006/relationships/notesMaster" Target="/ppt/notesMasters/notesMaster1.xml" Id="R173471db192244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fae99ba1384bfa" /><Relationship Type="http://schemas.openxmlformats.org/officeDocument/2006/relationships/notesMaster" Target="/ppt/notesMasters/notesMaster1.xml" Id="R7d886d53294a46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6b1abccd5445b0" /><Relationship Type="http://schemas.openxmlformats.org/officeDocument/2006/relationships/notesMaster" Target="/ppt/notesMasters/notesMaster1.xml" Id="R63f21afa79204e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0a5a50c49d492c" /><Relationship Type="http://schemas.openxmlformats.org/officeDocument/2006/relationships/notesMaster" Target="/ppt/notesMasters/notesMaster1.xml" Id="Re1d4f67657504a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f6122823194e46" /><Relationship Type="http://schemas.openxmlformats.org/officeDocument/2006/relationships/notesMaster" Target="/ppt/notesMasters/notesMaster1.xml" Id="R936fa2bced514d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7757c021654114" /><Relationship Type="http://schemas.openxmlformats.org/officeDocument/2006/relationships/notesMaster" Target="/ppt/notesMasters/notesMaster1.xml" Id="Rc29daea73ef648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2d2a80072c4af4" /><Relationship Type="http://schemas.openxmlformats.org/officeDocument/2006/relationships/notesMaster" Target="/ppt/notesMasters/notesMaster1.xml" Id="Rd8554e4e8b284b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30ce2d61754005" /><Relationship Type="http://schemas.openxmlformats.org/officeDocument/2006/relationships/notesMaster" Target="/ppt/notesMasters/notesMaster1.xml" Id="Re52be3c6433447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041179d2aa4b84" /><Relationship Type="http://schemas.openxmlformats.org/officeDocument/2006/relationships/notesMaster" Target="/ppt/notesMasters/notesMaster1.xml" Id="R7712d81362d04e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4a7e7e0d394c7a" /><Relationship Type="http://schemas.openxmlformats.org/officeDocument/2006/relationships/notesMaster" Target="/ppt/notesMasters/notesMaster1.xml" Id="R2206108d6f6249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C:/Users/zmx/Desktop/comsol1/README.md</a:t>
            </a:r>
          </a:p>
          <a:p xmlns:a="http://schemas.openxmlformats.org/drawingml/2006/main">
            <a:r>
              <a:t>- C:/Users/zmx/Desktop/comsol1/comsol_training_small_model/README.md</a:t>
            </a:r>
          </a:p>
          <a:p xmlns:a="http://schemas.openxmlformats.org/drawingml/2006/main">
            <a:r>
              <a:t>- C:/Users/zmx/Desktop/comsol1/one_dimensional_web_lab/README.md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C:/Users/zmx/Desktop/comsol1/README.md</a:t>
            </a:r>
          </a:p>
          <a:p xmlns:a="http://schemas.openxmlformats.org/drawingml/2006/main">
            <a:r>
              <a:t>- C:/Users/zmx/Desktop/comsol1/comsol_training_small_model/web_app.py</a:t>
            </a:r>
          </a:p>
          <a:p xmlns:a="http://schemas.openxmlformats.org/drawingml/2006/main">
            <a:r>
              <a:t>- C:/Users/zmx/Desktop/comsol1/one_dimensional_web_lab/index.html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C:/Users/zmx/Desktop/comsol1/comsol_training_small_model/web_app.py</a:t>
            </a:r>
          </a:p>
          <a:p xmlns:a="http://schemas.openxmlformats.org/drawingml/2006/main">
            <a:r>
              <a:t>- C:/Users/zmx/Desktop/comsol1/comsol_training_small_model/src/comsol_small_model</a:t>
            </a:r>
          </a:p>
          <a:p xmlns:a="http://schemas.openxmlformats.org/drawingml/2006/main">
            <a:r>
              <a:t>- C:/Users/zmx/Desktop/comsol1/comsol_training_small_model/README.md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C:/Users/zmx/Desktop/comsol1/comsol_training_small_model/README.md</a:t>
            </a:r>
          </a:p>
          <a:p xmlns:a="http://schemas.openxmlformats.org/drawingml/2006/main">
            <a:r>
              <a:t>- C:/Users/zmx/Desktop/comsol1/comsol_training_small_model/src/comsol_small_model/surrogate_runtime.py</a:t>
            </a:r>
          </a:p>
          <a:p xmlns:a="http://schemas.openxmlformats.org/drawingml/2006/main">
            <a:r>
              <a:t>- C:/Users/zmx/Desktop/comsol1/comsol_training_small_model/src/comsol_small_model/staged_modeling.py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C:/Users/zmx/Desktop/comsol1/comsol_training_small_model/generated/models/surrogate_registry.json</a:t>
            </a:r>
          </a:p>
          <a:p xmlns:a="http://schemas.openxmlformats.org/drawingml/2006/main">
            <a:r>
              <a:t>- C:/Users/zmx/Desktop/comsol1/comsol_training_small_model/generated/models/joule_rectangle_validated_surrogate_model_card.json</a:t>
            </a:r>
          </a:p>
          <a:p xmlns:a="http://schemas.openxmlformats.org/drawingml/2006/main">
            <a:r>
              <a:t>- C:/Users/zmx/Desktop/comsol1/comsol_training_small_model/generated/models/joule_rectangle_validated_surrogate.holdout_validation.json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C:/Users/zmx/Desktop/comsol1/one_dimensional_web_lab/index.html</a:t>
            </a:r>
          </a:p>
          <a:p xmlns:a="http://schemas.openxmlformats.org/drawingml/2006/main">
            <a:r>
              <a:t>- C:/Users/zmx/Desktop/comsol1/one_dimensional_web_lab/app.py</a:t>
            </a:r>
          </a:p>
          <a:p xmlns:a="http://schemas.openxmlformats.org/drawingml/2006/main">
            <a:r>
              <a:t>- C:/Users/zmx/Desktop/comsol1/one_dimensional_web_lab/WORKFLOW_CONTRACT.md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C:/Users/zmx/Desktop/comsol1/one_dimensional_web_lab/README.md</a:t>
            </a:r>
          </a:p>
          <a:p xmlns:a="http://schemas.openxmlformats.org/drawingml/2006/main">
            <a:r>
              <a:t>- C:/Users/zmx/Desktop/comsol1/one_dimensional_web_lab/index.html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C:/Users/zmx/Desktop/comsol1/comsol_training_small_model/README.md</a:t>
            </a:r>
          </a:p>
          <a:p xmlns:a="http://schemas.openxmlformats.org/drawingml/2006/main">
            <a:r>
              <a:t>- C:/Users/zmx/Desktop/comsol1/one_dimensional_web_lab/README.md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C:/Users/zmx/Desktop/comsol1/one_dimensional_web_lab/WORKFLOW_CONTRACT.md</a:t>
            </a:r>
          </a:p>
          <a:p xmlns:a="http://schemas.openxmlformats.org/drawingml/2006/main">
            <a:r>
              <a:t>- C:/Users/zmx/Desktop/comsol1/comsol_training_small_model/src/comsol_small_model/execution_jobs.py</a:t>
            </a:r>
          </a:p>
          <a:p xmlns:a="http://schemas.openxmlformats.org/drawingml/2006/main">
            <a:r>
              <a:t>- C:/Users/zmx/Desktop/comsol1/comsol_training_small_model/src/comsol_small_model/surrogate_validation.py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C:/Users/zmx/Desktop/comsol1/comsol_training_small_model/configs/execution_node.json</a:t>
            </a:r>
          </a:p>
          <a:p xmlns:a="http://schemas.openxmlformats.org/drawingml/2006/main">
            <a:r>
              <a:t>- C:/Users/zmx/Desktop/comsol1/comsol_training_small_model/generated/models/surrogate_registry.json</a:t>
            </a:r>
          </a:p>
          <a:p xmlns:a="http://schemas.openxmlformats.org/drawingml/2006/main">
            <a:r>
              <a:t>- C:/Users/zmx/Desktop/comsol1/one_dimensional_web_lab/README.md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462336042b43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2ad9adf6e142ab" /><Relationship Type="http://schemas.openxmlformats.org/officeDocument/2006/relationships/slideLayout" Target="/ppt/slideLayouts/slideLayout1.xml" Id="R47708a23230442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708a23230442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8bf2683d34bba" /><Relationship Type="http://schemas.openxmlformats.org/officeDocument/2006/relationships/notesSlide" Target="/ppt/notesSlides/notesSlide1.xml" Id="R197aa721231b4d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e9c7252c88484c" /><Relationship Type="http://schemas.openxmlformats.org/officeDocument/2006/relationships/notesSlide" Target="/ppt/notesSlides/notesSlide2.xml" Id="Rba0e5fcab7bf45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3bf41b41e42a5" /><Relationship Type="http://schemas.openxmlformats.org/officeDocument/2006/relationships/notesSlide" Target="/ppt/notesSlides/notesSlide3.xml" Id="R444c1d56630a49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c8dbe02774c9e" /><Relationship Type="http://schemas.openxmlformats.org/officeDocument/2006/relationships/notesSlide" Target="/ppt/notesSlides/notesSlide4.xml" Id="R3913bceadbd741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74472d949477a" /><Relationship Type="http://schemas.openxmlformats.org/officeDocument/2006/relationships/notesSlide" Target="/ppt/notesSlides/notesSlide5.xml" Id="Rc0627853868147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78e3cfbd54e37" /><Relationship Type="http://schemas.openxmlformats.org/officeDocument/2006/relationships/notesSlide" Target="/ppt/notesSlides/notesSlide6.xml" Id="Rf153f38a6bdd4e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50a3de37c4f70" /><Relationship Type="http://schemas.openxmlformats.org/officeDocument/2006/relationships/notesSlide" Target="/ppt/notesSlides/notesSlide7.xml" Id="Rb08f860d8f384a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b20b7b41d465d" /><Relationship Type="http://schemas.openxmlformats.org/officeDocument/2006/relationships/notesSlide" Target="/ppt/notesSlides/notesSlide8.xml" Id="R5df113ffd8c74c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22f15a0a142d3" /><Relationship Type="http://schemas.openxmlformats.org/officeDocument/2006/relationships/notesSlide" Target="/ppt/notesSlides/notesSlide9.xml" Id="Rc6d3f7549c8b46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9e2695da94020" /><Relationship Type="http://schemas.openxmlformats.org/officeDocument/2006/relationships/notesSlide" Target="/ppt/notesSlides/notesSlide10.xml" Id="R51ca365210fa49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accent-edge">
            <a:extLst xmlns:a="http://schemas.openxmlformats.org/drawingml/2006/main">
              <a:ext uri="{FF2B5EF4-FFF2-40B4-BE49-F238E27FC236}">
                <a16:creationId xmlns:a16="http://schemas.microsoft.com/office/drawing/2014/main" id="{CF3F4928-E33F-4D00-8049-E3A1D29E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3D6"/>
          </a:solidFill>
          <a:ln xmlns:a="http://schemas.openxmlformats.org/drawingml/2006/main" w="9525">
            <a:solidFill>
              <a:srgbClr val="2BB3D6"/>
            </a:solidFill>
            <a:prstDash val="solid"/>
          </a:ln>
        </p:spPr>
      </p:sp>
      <p:sp>
        <p:nvSpPr>
          <p:cNvPr id="2" name="cover-line-1">
            <a:extLst xmlns:a="http://schemas.openxmlformats.org/drawingml/2006/main">
              <a:ext uri="{FF2B5EF4-FFF2-40B4-BE49-F238E27FC236}">
                <a16:creationId xmlns:a16="http://schemas.microsoft.com/office/drawing/2014/main" id="{625F0CEA-52E8-4709-B8F5-2AE34CA2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04775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36B"/>
            </a:solidFill>
            <a:prstDash val="solid"/>
          </a:ln>
        </p:spPr>
      </p:sp>
      <p:sp>
        <p:nvSpPr>
          <p:cNvPr id="3" name="cover-line-2">
            <a:extLst xmlns:a="http://schemas.openxmlformats.org/drawingml/2006/main">
              <a:ext uri="{FF2B5EF4-FFF2-40B4-BE49-F238E27FC236}">
                <a16:creationId xmlns:a16="http://schemas.microsoft.com/office/drawing/2014/main" id="{98D98A6B-480D-4DCE-80A1-2B8122F1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049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36B"/>
            </a:solidFill>
            <a:prstDash val="solid"/>
          </a:ln>
        </p:spPr>
      </p:sp>
      <p:sp>
        <p:nvSpPr>
          <p:cNvPr id="4" name="cover-line-3">
            <a:extLst xmlns:a="http://schemas.openxmlformats.org/drawingml/2006/main">
              <a:ext uri="{FF2B5EF4-FFF2-40B4-BE49-F238E27FC236}">
                <a16:creationId xmlns:a16="http://schemas.microsoft.com/office/drawing/2014/main" id="{6DC5FF48-4A43-4670-B8C0-6618EB5D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621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36B"/>
            </a:solidFill>
            <a:prstDash val="solid"/>
          </a:ln>
        </p:spPr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EF13F451-510D-4D72-AB6F-8156F517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rPr>
              <a:t>组会汇报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2E529B8-0C62-4627-8DB1-ED436993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809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COMSOL 本地智能建模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与仿真平台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776BAAA-893A-4D44-BB31-C632ABF3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771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6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9E6F0"/>
                </a:solidFill>
                <a:latin typeface="Microsoft YaHei"/>
                <a:ea typeface="Microsoft YaHei"/>
                <a:cs typeface="Microsoft YaHei"/>
              </a:rPr>
              <a:t>两套模型系统的设计结构、现有功能与协同方式</a:t>
            </a:r>
          </a:p>
        </p:txBody>
      </p:sp>
      <p:sp>
        <p:nvSpPr>
          <p:cNvPr id="8" name="cover-model-a">
            <a:extLst xmlns:a="http://schemas.openxmlformats.org/drawingml/2006/main">
              <a:ext uri="{FF2B5EF4-FFF2-40B4-BE49-F238E27FC236}">
                <a16:creationId xmlns:a16="http://schemas.microsoft.com/office/drawing/2014/main" id="{316671C8-973A-40B1-9A85-A7482380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36195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16324A"/>
          </a:solidFill>
          <a:ln xmlns:a="http://schemas.openxmlformats.org/drawingml/2006/main" w="9525">
            <a:solidFill>
              <a:srgbClr val="36536B"/>
            </a:solidFill>
            <a:prstDash val="solid"/>
          </a:ln>
        </p:spPr>
      </p:sp>
      <p:sp>
        <p:nvSpPr>
          <p:cNvPr id="9" name="cover-a-label">
            <a:extLst xmlns:a="http://schemas.openxmlformats.org/drawingml/2006/main">
              <a:ext uri="{FF2B5EF4-FFF2-40B4-BE49-F238E27FC236}">
                <a16:creationId xmlns:a16="http://schemas.microsoft.com/office/drawing/2014/main" id="{5298D8BB-E3BF-4609-A5BF-0159CD66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95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rPr>
              <a:t>模型 A</a:t>
            </a:r>
          </a:p>
        </p:txBody>
      </p:sp>
      <p:sp>
        <p:nvSpPr>
          <p:cNvPr id="10" name="cover-a-name">
            <a:extLst xmlns:a="http://schemas.openxmlformats.org/drawingml/2006/main">
              <a:ext uri="{FF2B5EF4-FFF2-40B4-BE49-F238E27FC236}">
                <a16:creationId xmlns:a16="http://schemas.microsoft.com/office/drawing/2014/main" id="{659B67C1-2D75-4113-9C1C-63241038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COMSOL 智能建模工作台</a:t>
            </a:r>
          </a:p>
        </p:txBody>
      </p:sp>
      <p:sp>
        <p:nvSpPr>
          <p:cNvPr id="11" name="cover-model-b">
            <a:extLst xmlns:a="http://schemas.openxmlformats.org/drawingml/2006/main">
              <a:ext uri="{FF2B5EF4-FFF2-40B4-BE49-F238E27FC236}">
                <a16:creationId xmlns:a16="http://schemas.microsoft.com/office/drawing/2014/main" id="{625FFAE3-4327-40D8-9DAB-BCFE51E8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71950"/>
            <a:ext cx="36195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16324A"/>
          </a:solidFill>
          <a:ln xmlns:a="http://schemas.openxmlformats.org/drawingml/2006/main" w="9525">
            <a:solidFill>
              <a:srgbClr val="36536B"/>
            </a:solidFill>
            <a:prstDash val="solid"/>
          </a:ln>
        </p:spPr>
      </p:sp>
      <p:sp>
        <p:nvSpPr>
          <p:cNvPr id="12" name="cover-b-label">
            <a:extLst xmlns:a="http://schemas.openxmlformats.org/drawingml/2006/main">
              <a:ext uri="{FF2B5EF4-FFF2-40B4-BE49-F238E27FC236}">
                <a16:creationId xmlns:a16="http://schemas.microsoft.com/office/drawing/2014/main" id="{B1673B3E-F025-4A85-A3D7-F0274CDB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95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A2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4A261"/>
                </a:solidFill>
                <a:latin typeface="Microsoft YaHei"/>
                <a:ea typeface="Microsoft YaHei"/>
                <a:cs typeface="Microsoft YaHei"/>
              </a:rPr>
              <a:t>模型 B</a:t>
            </a:r>
          </a:p>
        </p:txBody>
      </p:sp>
      <p:sp>
        <p:nvSpPr>
          <p:cNvPr id="13" name="cover-b-name">
            <a:extLst xmlns:a="http://schemas.openxmlformats.org/drawingml/2006/main">
              <a:ext uri="{FF2B5EF4-FFF2-40B4-BE49-F238E27FC236}">
                <a16:creationId xmlns:a16="http://schemas.microsoft.com/office/drawing/2014/main" id="{D8731BBA-08CA-4F79-8083-0A7B917E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5720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物理场基准仿真工作台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305300" y="46101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879E"/>
            </a:solidFill>
            <a:prstDash val="solid"/>
            <a:tailEnd type="triangle" w="sm" len="sm"/>
          </a:ln>
        </p:spPr>
      </p:cxnSp>
      <p:sp>
        <p:nvSpPr>
          <p:cNvPr id="15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D9F7102B-3939-4DB3-9FF9-443BDAAC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DB2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DB2C3"/>
                </a:solidFill>
                <a:latin typeface="Microsoft YaHei"/>
                <a:ea typeface="Microsoft YaHei"/>
                <a:cs typeface="Microsoft YaHei"/>
              </a:rPr>
              <a:t>本地运行 · 可审计证据 · 范围内预测</a:t>
            </a:r>
          </a:p>
        </p:txBody>
      </p:sp>
    </p:spTree>
    <p:extLst>
      <p:ext uri="{BB962C8B-B14F-4D97-AF65-F5344CB8AC3E}">
        <p14:creationId xmlns:p14="http://schemas.microsoft.com/office/powerpoint/2010/main" val="17018682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7D3ED643-5692-42EA-B20D-36287979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rPr>
              <a:t>COMSOL 本地智能建模与仿真平台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DC20A9-B57B-43DE-90DC-BAD34839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项目由两套互补系统组成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17AB975-F4F3-4C6E-BE81-F0D743B3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2387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3489E50F-9667-48DB-B807-0372DE9B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F"/>
            </a:solidFill>
            <a:prstDash val="solid"/>
          </a:ln>
        </p:spPr>
      </p:sp>
      <p:sp>
        <p:nvSpPr>
          <p:cNvPr id="5" name="overview-a">
            <a:extLst xmlns:a="http://schemas.openxmlformats.org/drawingml/2006/main">
              <a:ext uri="{FF2B5EF4-FFF2-40B4-BE49-F238E27FC236}">
                <a16:creationId xmlns:a16="http://schemas.microsoft.com/office/drawing/2014/main" id="{AD3D7824-39DF-418F-92D2-4B15727D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4476750" cy="3733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DDF4F9"/>
          </a:solidFill>
          <a:ln xmlns:a="http://schemas.openxmlformats.org/drawingml/2006/main" w="9525">
            <a:solidFill>
              <a:srgbClr val="2BB3D6"/>
            </a:solidFill>
            <a:prstDash val="solid"/>
          </a:ln>
        </p:spPr>
      </p:sp>
      <p:sp>
        <p:nvSpPr>
          <p:cNvPr id="6" name="overview-a-label">
            <a:extLst xmlns:a="http://schemas.openxmlformats.org/drawingml/2006/main">
              <a:ext uri="{FF2B5EF4-FFF2-40B4-BE49-F238E27FC236}">
                <a16:creationId xmlns:a16="http://schemas.microsoft.com/office/drawing/2014/main" id="{38447B66-D08A-48B3-A557-FA4ED20D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rPr>
              <a:t>模型 A</a:t>
            </a:r>
          </a:p>
        </p:txBody>
      </p:sp>
      <p:sp>
        <p:nvSpPr>
          <p:cNvPr id="7" name="overview-a-title">
            <a:extLst xmlns:a="http://schemas.openxmlformats.org/drawingml/2006/main">
              <a:ext uri="{FF2B5EF4-FFF2-40B4-BE49-F238E27FC236}">
                <a16:creationId xmlns:a16="http://schemas.microsoft.com/office/drawing/2014/main" id="{047B90D7-F640-4155-AFAD-BBE5F369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COMSOL 智能建模工作台</a:t>
            </a:r>
          </a:p>
        </p:txBody>
      </p:sp>
      <p:sp>
        <p:nvSpPr>
          <p:cNvPr id="8" name="overview-a-focus">
            <a:extLst xmlns:a="http://schemas.openxmlformats.org/drawingml/2006/main">
              <a:ext uri="{FF2B5EF4-FFF2-40B4-BE49-F238E27FC236}">
                <a16:creationId xmlns:a16="http://schemas.microsoft.com/office/drawing/2014/main" id="{E14F92A3-1681-4FA6-BC21-3DF905CF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负责工程流程</a:t>
            </a:r>
          </a:p>
        </p:txBody>
      </p:sp>
      <p:sp>
        <p:nvSpPr>
          <p:cNvPr id="9" name="overview-a-copy">
            <a:extLst xmlns:a="http://schemas.openxmlformats.org/drawingml/2006/main">
              <a:ext uri="{FF2B5EF4-FFF2-40B4-BE49-F238E27FC236}">
                <a16:creationId xmlns:a16="http://schemas.microsoft.com/office/drawing/2014/main" id="{70751B81-2BD3-4841-85EE-626E4736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3581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案例和文档检索</a:t>
            </a:r>
          </a:p>
          <a:p xmlns:a="http://schemas.openxmlformats.org/drawingml/2006/main">
            <a:pPr algn="l">
              <a:defRPr sz="150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建模规划与代码生成</a:t>
            </a:r>
          </a:p>
          <a:p xmlns:a="http://schemas.openxmlformats.org/drawingml/2006/main">
            <a:pPr algn="l">
              <a:defRPr sz="150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COMSOL 任务组织</a:t>
            </a:r>
          </a:p>
          <a:p xmlns:a="http://schemas.openxmlformats.org/drawingml/2006/main">
            <a:pPr algn="l">
              <a:defRPr sz="150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代理模型训练、验证与预测</a:t>
            </a:r>
          </a:p>
        </p:txBody>
      </p:sp>
      <p:sp>
        <p:nvSpPr>
          <p:cNvPr id="10" name="overview-a-url">
            <a:extLst xmlns:a="http://schemas.openxmlformats.org/drawingml/2006/main">
              <a:ext uri="{FF2B5EF4-FFF2-40B4-BE49-F238E27FC236}">
                <a16:creationId xmlns:a16="http://schemas.microsoft.com/office/drawing/2014/main" id="{58A885DF-E90A-4EEC-9FF0-01E3C54F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rPr>
              <a:t>入口  http://127.0.0.1:8880/</a:t>
            </a:r>
          </a:p>
        </p:txBody>
      </p:sp>
      <p:sp>
        <p:nvSpPr>
          <p:cNvPr id="11" name="overview-b">
            <a:extLst xmlns:a="http://schemas.openxmlformats.org/drawingml/2006/main">
              <a:ext uri="{FF2B5EF4-FFF2-40B4-BE49-F238E27FC236}">
                <a16:creationId xmlns:a16="http://schemas.microsoft.com/office/drawing/2014/main" id="{1574867F-4443-4940-9ACD-45383D67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81150"/>
            <a:ext cx="4476750" cy="3733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CE8D2"/>
          </a:solidFill>
          <a:ln xmlns:a="http://schemas.openxmlformats.org/drawingml/2006/main" w="9525">
            <a:solidFill>
              <a:srgbClr val="F4A261"/>
            </a:solidFill>
            <a:prstDash val="solid"/>
          </a:ln>
        </p:spPr>
      </p:sp>
      <p:sp>
        <p:nvSpPr>
          <p:cNvPr id="12" name="overview-b-label">
            <a:extLst xmlns:a="http://schemas.openxmlformats.org/drawingml/2006/main">
              <a:ext uri="{FF2B5EF4-FFF2-40B4-BE49-F238E27FC236}">
                <a16:creationId xmlns:a16="http://schemas.microsoft.com/office/drawing/2014/main" id="{675EA7DE-61C1-4591-A331-BB0B7561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09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A2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4A261"/>
                </a:solidFill>
                <a:latin typeface="Microsoft YaHei"/>
                <a:ea typeface="Microsoft YaHei"/>
                <a:cs typeface="Microsoft YaHei"/>
              </a:rPr>
              <a:t>模型 B</a:t>
            </a:r>
          </a:p>
        </p:txBody>
      </p:sp>
      <p:sp>
        <p:nvSpPr>
          <p:cNvPr id="13" name="overview-b-title">
            <a:extLst xmlns:a="http://schemas.openxmlformats.org/drawingml/2006/main">
              <a:ext uri="{FF2B5EF4-FFF2-40B4-BE49-F238E27FC236}">
                <a16:creationId xmlns:a16="http://schemas.microsoft.com/office/drawing/2014/main" id="{CEA38E1F-8718-41AB-A07B-8F374312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336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物理场基准仿真工作台</a:t>
            </a:r>
          </a:p>
        </p:txBody>
      </p:sp>
      <p:sp>
        <p:nvSpPr>
          <p:cNvPr id="14" name="overview-b-focus">
            <a:extLst xmlns:a="http://schemas.openxmlformats.org/drawingml/2006/main">
              <a:ext uri="{FF2B5EF4-FFF2-40B4-BE49-F238E27FC236}">
                <a16:creationId xmlns:a16="http://schemas.microsoft.com/office/drawing/2014/main" id="{9DBE784F-AAC5-46AA-B3BB-182BFDA2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24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负责前置验证</a:t>
            </a:r>
          </a:p>
        </p:txBody>
      </p:sp>
      <p:sp>
        <p:nvSpPr>
          <p:cNvPr id="15" name="overview-b-copy">
            <a:extLst xmlns:a="http://schemas.openxmlformats.org/drawingml/2006/main">
              <a:ext uri="{FF2B5EF4-FFF2-40B4-BE49-F238E27FC236}">
                <a16:creationId xmlns:a16="http://schemas.microsoft.com/office/drawing/2014/main" id="{4BA60853-D805-4CA1-B3A6-6B1919F3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86100"/>
            <a:ext cx="3581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解析公式和降阶计算</a:t>
            </a:r>
          </a:p>
          <a:p xmlns:a="http://schemas.openxmlformats.org/drawingml/2006/main">
            <a:pPr algn="l">
              <a:defRPr sz="150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一维有限差分验证</a:t>
            </a:r>
          </a:p>
          <a:p xmlns:a="http://schemas.openxmlformats.org/drawingml/2006/main">
            <a:pPr algn="l">
              <a:defRPr sz="150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网格收敛检查</a:t>
            </a:r>
          </a:p>
          <a:p xmlns:a="http://schemas.openxmlformats.org/drawingml/2006/main">
            <a:pPr algn="l">
              <a:defRPr sz="150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三维基准结构与工作链导出</a:t>
            </a:r>
          </a:p>
        </p:txBody>
      </p:sp>
      <p:sp>
        <p:nvSpPr>
          <p:cNvPr id="16" name="overview-b-url">
            <a:extLst xmlns:a="http://schemas.openxmlformats.org/drawingml/2006/main">
              <a:ext uri="{FF2B5EF4-FFF2-40B4-BE49-F238E27FC236}">
                <a16:creationId xmlns:a16="http://schemas.microsoft.com/office/drawing/2014/main" id="{20B871A2-D26A-4D99-A8C0-186A1292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387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rPr>
              <a:t>入口  http://127.0.0.1:8766/</a:t>
            </a:r>
          </a:p>
        </p:txBody>
      </p:sp>
      <p:sp>
        <p:nvSpPr>
          <p:cNvPr id="17" name="overview-bridge">
            <a:extLst xmlns:a="http://schemas.openxmlformats.org/drawingml/2006/main">
              <a:ext uri="{FF2B5EF4-FFF2-40B4-BE49-F238E27FC236}">
                <a16:creationId xmlns:a16="http://schemas.microsoft.com/office/drawing/2014/main" id="{BFC5D0EE-71F6-4754-840B-612B07DB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67000"/>
            <a:ext cx="140970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18" name="overview-bridge-text">
            <a:extLst xmlns:a="http://schemas.openxmlformats.org/drawingml/2006/main">
              <a:ext uri="{FF2B5EF4-FFF2-40B4-BE49-F238E27FC236}">
                <a16:creationId xmlns:a16="http://schemas.microsoft.com/office/drawing/2014/main" id="{78E5E65F-2E64-459C-8A67-902193EC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76550"/>
            <a:ext cx="106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模型参数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验证结果</a:t>
            </a:r>
          </a:p>
        </p:txBody>
      </p:sp>
      <p:cxnSp>
        <p:nvCxnSpPr>
          <p:cNvPr id="42" name=""/>
          <p:cNvCxnSpPr>
            <a:stCxn xmlns:a="http://schemas.openxmlformats.org/drawingml/2006/main" id="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5143500" y="3200400"/>
            <a:ext cx="247650" cy="247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BB3D6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800850" y="3200400"/>
            <a:ext cx="247650" cy="247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4A261"/>
            </a:solidFill>
            <a:prstDash val="solid"/>
            <a:tailEnd type="triangle" w="sm" len="sm"/>
          </a:ln>
        </p:spPr>
      </p:cxnSp>
      <p:sp>
        <p:nvSpPr>
          <p:cNvPr id="21" name="overview-takeaway">
            <a:extLst xmlns:a="http://schemas.openxmlformats.org/drawingml/2006/main">
              <a:ext uri="{FF2B5EF4-FFF2-40B4-BE49-F238E27FC236}">
                <a16:creationId xmlns:a16="http://schemas.microsoft.com/office/drawing/2014/main" id="{9734359E-8BB5-45B2-9B17-B4E66351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531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共同目标：把物理依据、COMSOL 求解和快速预测连接成可复查的本地工作流</a:t>
            </a:r>
          </a:p>
        </p:txBody>
      </p:sp>
      <p:sp>
        <p:nvSpPr>
          <p:cNvPr id="2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7E290BB-870B-411F-9CB6-01B72127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F"/>
            </a:solidFill>
            <a:prstDash val="solid"/>
          </a:ln>
        </p:spPr>
      </p:sp>
      <p:sp>
        <p:nvSpPr>
          <p:cNvPr id="23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6FACEECD-EB96-41EA-AA90-3686CB2B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rPr>
              <a:t>本地项目文件与运行记录</a:t>
            </a:r>
          </a:p>
        </p:txBody>
      </p:sp>
    </p:spTree>
    <p:extLst>
      <p:ext uri="{BB962C8B-B14F-4D97-AF65-F5344CB8AC3E}">
        <p14:creationId xmlns:p14="http://schemas.microsoft.com/office/powerpoint/2010/main" val="19669849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kicker">
            <a:extLst xmlns:a="http://schemas.openxmlformats.org/drawingml/2006/main">
              <a:ext uri="{FF2B5EF4-FFF2-40B4-BE49-F238E27FC236}">
                <a16:creationId xmlns:a16="http://schemas.microsoft.com/office/drawing/2014/main" id="{205725E5-39C3-497A-8D74-DF91B36F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rPr>
              <a:t>COMSOL 本地智能建模与仿真平台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A5FE27-D3FC-4FB4-A014-61A4412A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模型 A：证据驱动的 COMSOL 工程助手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F2D8A4B-19C4-4922-91DD-C34C964E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2387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B3D53D32-3957-43EA-BFA6-B99EA7E6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F"/>
            </a:solidFill>
            <a:prstDash val="solid"/>
          </a:ln>
        </p:spPr>
      </p:sp>
      <p:sp>
        <p:nvSpPr>
          <p:cNvPr id="5" name="a-layer-ui-label">
            <a:extLst xmlns:a="http://schemas.openxmlformats.org/drawingml/2006/main">
              <a:ext uri="{FF2B5EF4-FFF2-40B4-BE49-F238E27FC236}">
                <a16:creationId xmlns:a16="http://schemas.microsoft.com/office/drawing/2014/main" id="{E98DCB7D-E334-44EE-A9CD-BAB9804A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rPr>
              <a:t>网页与本地 API</a:t>
            </a:r>
          </a:p>
        </p:txBody>
      </p:sp>
      <p:sp>
        <p:nvSpPr>
          <p:cNvPr id="6" name="a-layer-ui">
            <a:extLst xmlns:a="http://schemas.openxmlformats.org/drawingml/2006/main">
              <a:ext uri="{FF2B5EF4-FFF2-40B4-BE49-F238E27FC236}">
                <a16:creationId xmlns:a16="http://schemas.microsoft.com/office/drawing/2014/main" id="{4B2681C4-32B1-49C3-989B-1DF424AB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10858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a-layer-ui-text">
            <a:extLst xmlns:a="http://schemas.openxmlformats.org/drawingml/2006/main">
              <a:ext uri="{FF2B5EF4-FFF2-40B4-BE49-F238E27FC236}">
                <a16:creationId xmlns:a16="http://schemas.microsoft.com/office/drawing/2014/main" id="{AF9C13AD-46E6-4B1C-BB67-DCFC05D8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33575"/>
            <a:ext cx="1036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对话入口    文件读取    建模工具    训练与预测    任务中心</a:t>
            </a:r>
          </a:p>
        </p:txBody>
      </p:sp>
      <p:sp>
        <p:nvSpPr>
          <p:cNvPr id="8" name="a-layer-core-label">
            <a:extLst xmlns:a="http://schemas.openxmlformats.org/drawingml/2006/main">
              <a:ext uri="{FF2B5EF4-FFF2-40B4-BE49-F238E27FC236}">
                <a16:creationId xmlns:a16="http://schemas.microsoft.com/office/drawing/2014/main" id="{64CECE48-3395-4F45-A7F3-F19CF132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9" name="a-core-knowledge">
            <a:extLst xmlns:a="http://schemas.openxmlformats.org/drawingml/2006/main">
              <a:ext uri="{FF2B5EF4-FFF2-40B4-BE49-F238E27FC236}">
                <a16:creationId xmlns:a16="http://schemas.microsoft.com/office/drawing/2014/main" id="{6BD0A0C0-986B-43AD-AC36-273BB4BE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238125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DDF4F9"/>
          </a:solidFill>
          <a:ln xmlns:a="http://schemas.openxmlformats.org/drawingml/2006/main" w="9525">
            <a:solidFill>
              <a:srgbClr val="2BB3D6"/>
            </a:solidFill>
            <a:prstDash val="solid"/>
          </a:ln>
        </p:spPr>
      </p:sp>
      <p:sp>
        <p:nvSpPr>
          <p:cNvPr id="10" name="a-core-knowledge-title">
            <a:extLst xmlns:a="http://schemas.openxmlformats.org/drawingml/2006/main">
              <a:ext uri="{FF2B5EF4-FFF2-40B4-BE49-F238E27FC236}">
                <a16:creationId xmlns:a16="http://schemas.microsoft.com/office/drawing/2014/main" id="{1F707EC3-EA34-416D-B3CA-5B263BE9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证据与知识</a:t>
            </a:r>
          </a:p>
        </p:txBody>
      </p:sp>
      <p:sp>
        <p:nvSpPr>
          <p:cNvPr id="11" name="a-core-knowledge-copy">
            <a:extLst xmlns:a="http://schemas.openxmlformats.org/drawingml/2006/main">
              <a:ext uri="{FF2B5EF4-FFF2-40B4-BE49-F238E27FC236}">
                <a16:creationId xmlns:a16="http://schemas.microsoft.com/office/drawing/2014/main" id="{B70A4C56-900C-4F04-923B-B243130B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案例索引</a:t>
            </a:r>
          </a:p>
          <a:p xmlns:a="http://schemas.openxmlformats.org/drawingml/2006/main">
            <a:pPr algn="ctr">
              <a:defRPr sz="1275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官方文档</a:t>
            </a:r>
          </a:p>
          <a:p xmlns:a="http://schemas.openxmlformats.org/drawingml/2006/main">
            <a:pPr algn="ctr">
              <a:defRPr sz="1275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案例记忆</a:t>
            </a:r>
          </a:p>
        </p:txBody>
      </p:sp>
      <p:sp>
        <p:nvSpPr>
          <p:cNvPr id="12" name="a-core-modeling">
            <a:extLst xmlns:a="http://schemas.openxmlformats.org/drawingml/2006/main">
              <a:ext uri="{FF2B5EF4-FFF2-40B4-BE49-F238E27FC236}">
                <a16:creationId xmlns:a16="http://schemas.microsoft.com/office/drawing/2014/main" id="{4AC2E5CD-5B46-4397-86B4-E911A3E3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09900"/>
            <a:ext cx="238125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AD5DF"/>
            </a:solidFill>
            <a:prstDash val="solid"/>
          </a:ln>
        </p:spPr>
      </p:sp>
      <p:sp>
        <p:nvSpPr>
          <p:cNvPr id="13" name="a-core-modeling-title">
            <a:extLst xmlns:a="http://schemas.openxmlformats.org/drawingml/2006/main">
              <a:ext uri="{FF2B5EF4-FFF2-40B4-BE49-F238E27FC236}">
                <a16:creationId xmlns:a16="http://schemas.microsoft.com/office/drawing/2014/main" id="{32DF1349-6CB2-412C-A644-06AB3E06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337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建模与代码</a:t>
            </a:r>
          </a:p>
        </p:txBody>
      </p:sp>
      <p:sp>
        <p:nvSpPr>
          <p:cNvPr id="14" name="a-core-modeling-copy">
            <a:extLst xmlns:a="http://schemas.openxmlformats.org/drawingml/2006/main">
              <a:ext uri="{FF2B5EF4-FFF2-40B4-BE49-F238E27FC236}">
                <a16:creationId xmlns:a16="http://schemas.microsoft.com/office/drawing/2014/main" id="{F2D54688-86CA-4301-9BDF-0DBCD67D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861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约束检查</a:t>
            </a:r>
          </a:p>
          <a:p xmlns:a="http://schemas.openxmlformats.org/drawingml/2006/main">
            <a:pPr algn="ctr">
              <a:defRPr sz="1275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分阶段规划</a:t>
            </a:r>
          </a:p>
          <a:p xmlns:a="http://schemas.openxmlformats.org/drawingml/2006/main">
            <a:pPr algn="ctr">
              <a:defRPr sz="1275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MATLAB 与 Java</a:t>
            </a:r>
          </a:p>
        </p:txBody>
      </p:sp>
      <p:sp>
        <p:nvSpPr>
          <p:cNvPr id="15" name="a-core-surrogate">
            <a:extLst xmlns:a="http://schemas.openxmlformats.org/drawingml/2006/main">
              <a:ext uri="{FF2B5EF4-FFF2-40B4-BE49-F238E27FC236}">
                <a16:creationId xmlns:a16="http://schemas.microsoft.com/office/drawing/2014/main" id="{D09F2AD4-91E1-4EF1-8A94-5FDC86A9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09900"/>
            <a:ext cx="238125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16" name="a-core-surrogate-title">
            <a:extLst xmlns:a="http://schemas.openxmlformats.org/drawingml/2006/main">
              <a:ext uri="{FF2B5EF4-FFF2-40B4-BE49-F238E27FC236}">
                <a16:creationId xmlns:a16="http://schemas.microsoft.com/office/drawing/2014/main" id="{F655186B-53BC-478C-815E-FCAF0C10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337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代理模型</a:t>
            </a:r>
          </a:p>
        </p:txBody>
      </p:sp>
      <p:sp>
        <p:nvSpPr>
          <p:cNvPr id="17" name="a-core-surrogate-copy">
            <a:extLst xmlns:a="http://schemas.openxmlformats.org/drawingml/2006/main">
              <a:ext uri="{FF2B5EF4-FFF2-40B4-BE49-F238E27FC236}">
                <a16:creationId xmlns:a16="http://schemas.microsoft.com/office/drawing/2014/main" id="{EE315B50-D9A3-4A27-B196-DF305AC8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861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候选算法</a:t>
            </a:r>
          </a:p>
          <a:p xmlns:a="http://schemas.openxmlformats.org/drawingml/2006/main">
            <a:pPr algn="ctr">
              <a:defRPr sz="1275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独立留出验证</a:t>
            </a:r>
          </a:p>
          <a:p xmlns:a="http://schemas.openxmlformats.org/drawingml/2006/main">
            <a:pPr algn="ctr">
              <a:defRPr sz="1275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注册与预测</a:t>
            </a:r>
          </a:p>
        </p:txBody>
      </p:sp>
      <p:sp>
        <p:nvSpPr>
          <p:cNvPr id="18" name="a-core-execution">
            <a:extLst xmlns:a="http://schemas.openxmlformats.org/drawingml/2006/main">
              <a:ext uri="{FF2B5EF4-FFF2-40B4-BE49-F238E27FC236}">
                <a16:creationId xmlns:a16="http://schemas.microsoft.com/office/drawing/2014/main" id="{646BEDE0-8411-49C9-8BBC-8E614900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09900"/>
            <a:ext cx="25146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CE8D2"/>
          </a:solidFill>
          <a:ln xmlns:a="http://schemas.openxmlformats.org/drawingml/2006/main" w="9525">
            <a:solidFill>
              <a:srgbClr val="F4A261"/>
            </a:solidFill>
            <a:prstDash val="solid"/>
          </a:ln>
        </p:spPr>
      </p:sp>
      <p:sp>
        <p:nvSpPr>
          <p:cNvPr id="19" name="a-core-execution-title">
            <a:extLst xmlns:a="http://schemas.openxmlformats.org/drawingml/2006/main">
              <a:ext uri="{FF2B5EF4-FFF2-40B4-BE49-F238E27FC236}">
                <a16:creationId xmlns:a16="http://schemas.microsoft.com/office/drawing/2014/main" id="{02B997EC-69DE-413A-BBEA-26270E65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33725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执行与工件</a:t>
            </a:r>
          </a:p>
        </p:txBody>
      </p:sp>
      <p:sp>
        <p:nvSpPr>
          <p:cNvPr id="20" name="a-core-execution-copy">
            <a:extLst xmlns:a="http://schemas.openxmlformats.org/drawingml/2006/main">
              <a:ext uri="{FF2B5EF4-FFF2-40B4-BE49-F238E27FC236}">
                <a16:creationId xmlns:a16="http://schemas.microsoft.com/office/drawing/2014/main" id="{23AF5AB0-61FE-44F6-B7F7-4FAB7A00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861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任务队列</a:t>
            </a:r>
          </a:p>
          <a:p xmlns:a="http://schemas.openxmlformats.org/drawingml/2006/main">
            <a:pPr algn="ctr">
              <a:defRPr sz="1275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Worker 状态</a:t>
            </a:r>
          </a:p>
          <a:p xmlns:a="http://schemas.openxmlformats.org/drawingml/2006/main">
            <a:pPr algn="ctr">
              <a:defRPr sz="1275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MPH、CSV 与日志</a:t>
            </a:r>
          </a:p>
        </p:txBody>
      </p:sp>
      <p:cxnSp>
        <p:nvCxnSpPr>
          <p:cNvPr id="56" name="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1857375" y="2419350"/>
            <a:ext cx="4238625" cy="590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BB3D6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6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4638675" y="2419350"/>
            <a:ext cx="1457325" cy="590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BB3D6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6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6096000" y="2419350"/>
            <a:ext cx="1323975" cy="590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BB3D6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6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6096000" y="2419350"/>
            <a:ext cx="4171950" cy="590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BB3D6"/>
            </a:solidFill>
            <a:prstDash val="solid"/>
            <a:tailEnd type="triangle" w="sm" len="sm"/>
          </a:ln>
        </p:spPr>
      </p:cxnSp>
      <p:sp>
        <p:nvSpPr>
          <p:cNvPr id="25" name="a-layer-data-label">
            <a:extLst xmlns:a="http://schemas.openxmlformats.org/drawingml/2006/main">
              <a:ext uri="{FF2B5EF4-FFF2-40B4-BE49-F238E27FC236}">
                <a16:creationId xmlns:a16="http://schemas.microsoft.com/office/drawing/2014/main" id="{0552D55A-EDA2-4107-AC36-3FF81B95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rPr>
              <a:t>本地数据与运行环境</a:t>
            </a:r>
          </a:p>
        </p:txBody>
      </p:sp>
      <p:sp>
        <p:nvSpPr>
          <p:cNvPr id="26" name="a-layer-data">
            <a:extLst xmlns:a="http://schemas.openxmlformats.org/drawingml/2006/main">
              <a:ext uri="{FF2B5EF4-FFF2-40B4-BE49-F238E27FC236}">
                <a16:creationId xmlns:a16="http://schemas.microsoft.com/office/drawing/2014/main" id="{74CED4EE-A2DF-46E7-8A2E-6A7A21AD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858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AD5DF"/>
            </a:solidFill>
            <a:prstDash val="solid"/>
          </a:ln>
        </p:spPr>
      </p:sp>
      <p:sp>
        <p:nvSpPr>
          <p:cNvPr id="27" name="a-data-1">
            <a:extLst xmlns:a="http://schemas.openxmlformats.org/drawingml/2006/main">
              <a:ext uri="{FF2B5EF4-FFF2-40B4-BE49-F238E27FC236}">
                <a16:creationId xmlns:a16="http://schemas.microsoft.com/office/drawing/2014/main" id="{1F2CA076-8D49-4139-AAA8-71C346F4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案例与文档索引</a:t>
            </a:r>
          </a:p>
        </p:txBody>
      </p:sp>
      <p:sp>
        <p:nvSpPr>
          <p:cNvPr id="28" name="a-data-divider-1">
            <a:extLst xmlns:a="http://schemas.openxmlformats.org/drawingml/2006/main">
              <a:ext uri="{FF2B5EF4-FFF2-40B4-BE49-F238E27FC236}">
                <a16:creationId xmlns:a16="http://schemas.microsoft.com/office/drawing/2014/main" id="{8B9585FE-DD0A-49AF-B58E-D871F263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1490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F"/>
            </a:solidFill>
            <a:prstDash val="solid"/>
          </a:ln>
        </p:spPr>
      </p:sp>
      <p:sp>
        <p:nvSpPr>
          <p:cNvPr id="29" name="a-data-2">
            <a:extLst xmlns:a="http://schemas.openxmlformats.org/drawingml/2006/main">
              <a:ext uri="{FF2B5EF4-FFF2-40B4-BE49-F238E27FC236}">
                <a16:creationId xmlns:a16="http://schemas.microsoft.com/office/drawing/2014/main" id="{D0329149-8902-4687-A4E8-CFEC6230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720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模型注册表与模型卡</a:t>
            </a:r>
          </a:p>
        </p:txBody>
      </p:sp>
      <p:sp>
        <p:nvSpPr>
          <p:cNvPr id="30" name="a-data-divider-2">
            <a:extLst xmlns:a="http://schemas.openxmlformats.org/drawingml/2006/main">
              <a:ext uri="{FF2B5EF4-FFF2-40B4-BE49-F238E27FC236}">
                <a16:creationId xmlns:a16="http://schemas.microsoft.com/office/drawing/2014/main" id="{71F7EC53-632E-40E7-974B-0FE4497E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1490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F"/>
            </a:solidFill>
            <a:prstDash val="solid"/>
          </a:ln>
        </p:spPr>
      </p:sp>
      <p:sp>
        <p:nvSpPr>
          <p:cNvPr id="31" name="a-data-3">
            <a:extLst xmlns:a="http://schemas.openxmlformats.org/drawingml/2006/main">
              <a:ext uri="{FF2B5EF4-FFF2-40B4-BE49-F238E27FC236}">
                <a16:creationId xmlns:a16="http://schemas.microsoft.com/office/drawing/2014/main" id="{69A430CC-103F-40B0-B63A-882253E5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9720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参数扫描与验证 CSV</a:t>
            </a:r>
          </a:p>
        </p:txBody>
      </p:sp>
      <p:sp>
        <p:nvSpPr>
          <p:cNvPr id="32" name="a-data-divider-3">
            <a:extLst xmlns:a="http://schemas.openxmlformats.org/drawingml/2006/main">
              <a:ext uri="{FF2B5EF4-FFF2-40B4-BE49-F238E27FC236}">
                <a16:creationId xmlns:a16="http://schemas.microsoft.com/office/drawing/2014/main" id="{2F670B9F-962C-446E-88B3-398F05C3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1490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F"/>
            </a:solidFill>
            <a:prstDash val="solid"/>
          </a:ln>
        </p:spPr>
      </p:sp>
      <p:sp>
        <p:nvSpPr>
          <p:cNvPr id="33" name="a-data-4">
            <a:extLst xmlns:a="http://schemas.openxmlformats.org/drawingml/2006/main">
              <a:ext uri="{FF2B5EF4-FFF2-40B4-BE49-F238E27FC236}">
                <a16:creationId xmlns:a16="http://schemas.microsoft.com/office/drawing/2014/main" id="{C4F21FFD-6305-4274-92BA-DF01B267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7205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Python 3.12 本地环境</a:t>
            </a:r>
          </a:p>
        </p:txBody>
      </p:sp>
      <p:sp>
        <p:nvSpPr>
          <p:cNvPr id="3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692B1F5-942F-4F3C-87F5-45419A23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F"/>
            </a:solidFill>
            <a:prstDash val="solid"/>
          </a:ln>
        </p:spPr>
      </p:sp>
      <p:sp>
        <p:nvSpPr>
          <p:cNvPr id="35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84D3EE63-9FEA-4EFD-AF0A-24030212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rPr>
              <a:t>来源：web_app.py 与 src/comsol_small_model</a:t>
            </a:r>
          </a:p>
        </p:txBody>
      </p:sp>
    </p:spTree>
    <p:extLst>
      <p:ext uri="{BB962C8B-B14F-4D97-AF65-F5344CB8AC3E}">
        <p14:creationId xmlns:p14="http://schemas.microsoft.com/office/powerpoint/2010/main" val="20257161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kicker">
            <a:extLst xmlns:a="http://schemas.openxmlformats.org/drawingml/2006/main">
              <a:ext uri="{FF2B5EF4-FFF2-40B4-BE49-F238E27FC236}">
                <a16:creationId xmlns:a16="http://schemas.microsoft.com/office/drawing/2014/main" id="{76944161-1BD1-495E-9B18-66B4F4FB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rPr>
              <a:t>COMSOL 本地智能建模与仿真平台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8ECA8A-A4E9-4FE3-BD29-969AB06A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模型 A：从需求到可审计预测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8572AB5-953D-4EC6-BCE1-5BD6150A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2387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435E40D6-7CE4-4E4E-A8C1-97250643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F"/>
            </a:solidFill>
            <a:prstDash val="solid"/>
          </a:ln>
        </p:spPr>
      </p:sp>
      <p:sp>
        <p:nvSpPr>
          <p:cNvPr id="5" name="a-step-1">
            <a:extLst xmlns:a="http://schemas.openxmlformats.org/drawingml/2006/main">
              <a:ext uri="{FF2B5EF4-FFF2-40B4-BE49-F238E27FC236}">
                <a16:creationId xmlns:a16="http://schemas.microsoft.com/office/drawing/2014/main" id="{4C03DD30-1BEA-46F5-A53C-81A6B79F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1657350" cy="19621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DDF4F9"/>
          </a:solidFill>
          <a:ln xmlns:a="http://schemas.openxmlformats.org/drawingml/2006/main" w="9525">
            <a:solidFill>
              <a:srgbClr val="2BB3D6"/>
            </a:solidFill>
            <a:prstDash val="solid"/>
          </a:ln>
        </p:spPr>
      </p:sp>
      <p:sp>
        <p:nvSpPr>
          <p:cNvPr id="6" name="a-step-num-1">
            <a:extLst xmlns:a="http://schemas.openxmlformats.org/drawingml/2006/main">
              <a:ext uri="{FF2B5EF4-FFF2-40B4-BE49-F238E27FC236}">
                <a16:creationId xmlns:a16="http://schemas.microsoft.com/office/drawing/2014/main" id="{12DB1072-3BAD-45A0-8003-3A3BE10A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a-step-title-1">
            <a:extLst xmlns:a="http://schemas.openxmlformats.org/drawingml/2006/main">
              <a:ext uri="{FF2B5EF4-FFF2-40B4-BE49-F238E27FC236}">
                <a16:creationId xmlns:a16="http://schemas.microsoft.com/office/drawing/2014/main" id="{13DFA8F2-608A-4651-AAEA-8FF993FB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读取证据</a:t>
            </a:r>
          </a:p>
        </p:txBody>
      </p:sp>
      <p:sp>
        <p:nvSpPr>
          <p:cNvPr id="8" name="a-step-copy-1">
            <a:extLst xmlns:a="http://schemas.openxmlformats.org/drawingml/2006/main">
              <a:ext uri="{FF2B5EF4-FFF2-40B4-BE49-F238E27FC236}">
                <a16:creationId xmlns:a16="http://schemas.microsoft.com/office/drawing/2014/main" id="{D9CEAD85-F20E-4AF9-AAE8-BD023393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352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MATLAB、Java、CSV、JSON、文档</a:t>
            </a:r>
          </a:p>
        </p:txBody>
      </p:sp>
      <p:sp>
        <p:nvSpPr>
          <p:cNvPr id="9" name="a-step-2">
            <a:extLst xmlns:a="http://schemas.openxmlformats.org/drawingml/2006/main">
              <a:ext uri="{FF2B5EF4-FFF2-40B4-BE49-F238E27FC236}">
                <a16:creationId xmlns:a16="http://schemas.microsoft.com/office/drawing/2014/main" id="{5106F305-4E7B-45BB-8D76-EC007701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943100"/>
            <a:ext cx="1657350" cy="19621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DDF4F9"/>
          </a:solidFill>
          <a:ln xmlns:a="http://schemas.openxmlformats.org/drawingml/2006/main" w="9525">
            <a:solidFill>
              <a:srgbClr val="2BB3D6"/>
            </a:solidFill>
            <a:prstDash val="solid"/>
          </a:ln>
        </p:spPr>
      </p:sp>
      <p:sp>
        <p:nvSpPr>
          <p:cNvPr id="10" name="a-step-num-2">
            <a:extLst xmlns:a="http://schemas.openxmlformats.org/drawingml/2006/main">
              <a:ext uri="{FF2B5EF4-FFF2-40B4-BE49-F238E27FC236}">
                <a16:creationId xmlns:a16="http://schemas.microsoft.com/office/drawing/2014/main" id="{579EF7D5-8790-4675-A055-C2C10921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955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a-step-title-2">
            <a:extLst xmlns:a="http://schemas.openxmlformats.org/drawingml/2006/main">
              <a:ext uri="{FF2B5EF4-FFF2-40B4-BE49-F238E27FC236}">
                <a16:creationId xmlns:a16="http://schemas.microsoft.com/office/drawing/2014/main" id="{2C762F23-71FE-439F-B81A-EC8A147D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5146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规划模型</a:t>
            </a:r>
          </a:p>
        </p:txBody>
      </p:sp>
      <p:sp>
        <p:nvSpPr>
          <p:cNvPr id="12" name="a-step-copy-2">
            <a:extLst xmlns:a="http://schemas.openxmlformats.org/drawingml/2006/main">
              <a:ext uri="{FF2B5EF4-FFF2-40B4-BE49-F238E27FC236}">
                <a16:creationId xmlns:a16="http://schemas.microsoft.com/office/drawing/2014/main" id="{F685494A-FD1D-4573-9E5C-DFE6FA32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90850"/>
            <a:ext cx="1352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物理场、材料、边界、网格、研究</a:t>
            </a:r>
          </a:p>
        </p:txBody>
      </p:sp>
      <p:cxnSp>
        <p:nvCxnSpPr>
          <p:cNvPr id="51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190750" y="29241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181"/>
            </a:solidFill>
            <a:prstDash val="solid"/>
            <a:tailEnd type="triangle" w="sm" len="sm"/>
          </a:ln>
        </p:spPr>
      </p:cxnSp>
      <p:sp>
        <p:nvSpPr>
          <p:cNvPr id="14" name="a-step-3">
            <a:extLst xmlns:a="http://schemas.openxmlformats.org/drawingml/2006/main">
              <a:ext uri="{FF2B5EF4-FFF2-40B4-BE49-F238E27FC236}">
                <a16:creationId xmlns:a16="http://schemas.microsoft.com/office/drawing/2014/main" id="{E6E27A41-0E07-4433-85A2-24ABADEC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43100"/>
            <a:ext cx="1657350" cy="19621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DDF4F9"/>
          </a:solidFill>
          <a:ln xmlns:a="http://schemas.openxmlformats.org/drawingml/2006/main" w="9525">
            <a:solidFill>
              <a:srgbClr val="2BB3D6"/>
            </a:solidFill>
            <a:prstDash val="solid"/>
          </a:ln>
        </p:spPr>
      </p:sp>
      <p:sp>
        <p:nvSpPr>
          <p:cNvPr id="15" name="a-step-num-3">
            <a:extLst xmlns:a="http://schemas.openxmlformats.org/drawingml/2006/main">
              <a:ext uri="{FF2B5EF4-FFF2-40B4-BE49-F238E27FC236}">
                <a16:creationId xmlns:a16="http://schemas.microsoft.com/office/drawing/2014/main" id="{261158D9-BA0A-431B-90E1-48700D17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955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a-step-title-3">
            <a:extLst xmlns:a="http://schemas.openxmlformats.org/drawingml/2006/main">
              <a:ext uri="{FF2B5EF4-FFF2-40B4-BE49-F238E27FC236}">
                <a16:creationId xmlns:a16="http://schemas.microsoft.com/office/drawing/2014/main" id="{9B171738-CDE3-4D62-AEEA-652D5AEA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146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生成代码</a:t>
            </a:r>
          </a:p>
        </p:txBody>
      </p:sp>
      <p:sp>
        <p:nvSpPr>
          <p:cNvPr id="17" name="a-step-copy-3">
            <a:extLst xmlns:a="http://schemas.openxmlformats.org/drawingml/2006/main">
              <a:ext uri="{FF2B5EF4-FFF2-40B4-BE49-F238E27FC236}">
                <a16:creationId xmlns:a16="http://schemas.microsoft.com/office/drawing/2014/main" id="{B707FE15-0CD8-4618-9ECB-2AE97F24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90850"/>
            <a:ext cx="1352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LiveLink MATLAB 与 COMSOL Java</a:t>
            </a:r>
          </a:p>
        </p:txBody>
      </p:sp>
      <p:cxnSp>
        <p:nvCxnSpPr>
          <p:cNvPr id="56" name=""/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114800" y="29241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181"/>
            </a:solidFill>
            <a:prstDash val="solid"/>
            <a:tailEnd type="triangle" w="sm" len="sm"/>
          </a:ln>
        </p:spPr>
      </p:cxnSp>
      <p:sp>
        <p:nvSpPr>
          <p:cNvPr id="19" name="a-step-4">
            <a:extLst xmlns:a="http://schemas.openxmlformats.org/drawingml/2006/main">
              <a:ext uri="{FF2B5EF4-FFF2-40B4-BE49-F238E27FC236}">
                <a16:creationId xmlns:a16="http://schemas.microsoft.com/office/drawing/2014/main" id="{8228C396-38D3-4A46-B273-A2944E7D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43100"/>
            <a:ext cx="1657350" cy="19621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CE8D2"/>
          </a:solidFill>
          <a:ln xmlns:a="http://schemas.openxmlformats.org/drawingml/2006/main" w="9525">
            <a:solidFill>
              <a:srgbClr val="F4A261"/>
            </a:solidFill>
            <a:prstDash val="solid"/>
          </a:ln>
        </p:spPr>
      </p:sp>
      <p:sp>
        <p:nvSpPr>
          <p:cNvPr id="20" name="a-step-num-4">
            <a:extLst xmlns:a="http://schemas.openxmlformats.org/drawingml/2006/main">
              <a:ext uri="{FF2B5EF4-FFF2-40B4-BE49-F238E27FC236}">
                <a16:creationId xmlns:a16="http://schemas.microsoft.com/office/drawing/2014/main" id="{C6018362-73B8-4137-8528-08278240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955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a-step-title-4">
            <a:extLst xmlns:a="http://schemas.openxmlformats.org/drawingml/2006/main">
              <a:ext uri="{FF2B5EF4-FFF2-40B4-BE49-F238E27FC236}">
                <a16:creationId xmlns:a16="http://schemas.microsoft.com/office/drawing/2014/main" id="{B8174F94-B7D5-4AD3-BC3F-F983AA5A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146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真实求解</a:t>
            </a:r>
          </a:p>
        </p:txBody>
      </p:sp>
      <p:sp>
        <p:nvSpPr>
          <p:cNvPr id="22" name="a-step-copy-4">
            <a:extLst xmlns:a="http://schemas.openxmlformats.org/drawingml/2006/main">
              <a:ext uri="{FF2B5EF4-FFF2-40B4-BE49-F238E27FC236}">
                <a16:creationId xmlns:a16="http://schemas.microsoft.com/office/drawing/2014/main" id="{8647721A-9020-4003-931E-46DCA5DE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90850"/>
            <a:ext cx="1352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任务队列组织 COMSOL 运行</a:t>
            </a:r>
          </a:p>
        </p:txBody>
      </p:sp>
      <p:cxnSp>
        <p:nvCxnSpPr>
          <p:cNvPr id="61" name=""/>
          <p:cNvCxnSpPr>
            <a:stCxn xmlns:a="http://schemas.openxmlformats.org/drawingml/2006/main" id="14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038850" y="29241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181"/>
            </a:solidFill>
            <a:prstDash val="solid"/>
            <a:tailEnd type="triangle" w="sm" len="sm"/>
          </a:ln>
        </p:spPr>
      </p:cxnSp>
      <p:sp>
        <p:nvSpPr>
          <p:cNvPr id="24" name="a-step-5">
            <a:extLst xmlns:a="http://schemas.openxmlformats.org/drawingml/2006/main">
              <a:ext uri="{FF2B5EF4-FFF2-40B4-BE49-F238E27FC236}">
                <a16:creationId xmlns:a16="http://schemas.microsoft.com/office/drawing/2014/main" id="{517F91F8-2E04-4C5E-A160-76F8D5A0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1657350" cy="19621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25" name="a-step-num-5">
            <a:extLst xmlns:a="http://schemas.openxmlformats.org/drawingml/2006/main">
              <a:ext uri="{FF2B5EF4-FFF2-40B4-BE49-F238E27FC236}">
                <a16:creationId xmlns:a16="http://schemas.microsoft.com/office/drawing/2014/main" id="{4DC4A427-DB00-457B-9BEC-3DE818E0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a-step-title-5">
            <a:extLst xmlns:a="http://schemas.openxmlformats.org/drawingml/2006/main">
              <a:ext uri="{FF2B5EF4-FFF2-40B4-BE49-F238E27FC236}">
                <a16:creationId xmlns:a16="http://schemas.microsoft.com/office/drawing/2014/main" id="{9D36017A-CDD3-4D22-9E15-203FA88D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146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训练验证</a:t>
            </a:r>
          </a:p>
        </p:txBody>
      </p:sp>
      <p:sp>
        <p:nvSpPr>
          <p:cNvPr id="27" name="a-step-copy-5">
            <a:extLst xmlns:a="http://schemas.openxmlformats.org/drawingml/2006/main">
              <a:ext uri="{FF2B5EF4-FFF2-40B4-BE49-F238E27FC236}">
                <a16:creationId xmlns:a16="http://schemas.microsoft.com/office/drawing/2014/main" id="{65280DA8-E4E8-4E6E-A9E9-FCD08002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90850"/>
            <a:ext cx="1352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候选算法与独立 COMSOL 留出集</a:t>
            </a:r>
          </a:p>
        </p:txBody>
      </p:sp>
      <p:cxnSp>
        <p:nvCxnSpPr>
          <p:cNvPr id="66" name=""/>
          <p:cNvCxnSpPr>
            <a:stCxn xmlns:a="http://schemas.openxmlformats.org/drawingml/2006/main" id="19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962900" y="29241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181"/>
            </a:solidFill>
            <a:prstDash val="solid"/>
            <a:tailEnd type="triangle" w="sm" len="sm"/>
          </a:ln>
        </p:spPr>
      </p:cxnSp>
      <p:sp>
        <p:nvSpPr>
          <p:cNvPr id="29" name="a-step-6">
            <a:extLst xmlns:a="http://schemas.openxmlformats.org/drawingml/2006/main">
              <a:ext uri="{FF2B5EF4-FFF2-40B4-BE49-F238E27FC236}">
                <a16:creationId xmlns:a16="http://schemas.microsoft.com/office/drawing/2014/main" id="{871181BA-60AD-4767-A4A1-851B46E1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943100"/>
            <a:ext cx="1657350" cy="19621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30" name="a-step-num-6">
            <a:extLst xmlns:a="http://schemas.openxmlformats.org/drawingml/2006/main">
              <a:ext uri="{FF2B5EF4-FFF2-40B4-BE49-F238E27FC236}">
                <a16:creationId xmlns:a16="http://schemas.microsoft.com/office/drawing/2014/main" id="{7E91CDDB-2104-4997-8733-1B5D2459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0955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1" name="a-step-title-6">
            <a:extLst xmlns:a="http://schemas.openxmlformats.org/drawingml/2006/main">
              <a:ext uri="{FF2B5EF4-FFF2-40B4-BE49-F238E27FC236}">
                <a16:creationId xmlns:a16="http://schemas.microsoft.com/office/drawing/2014/main" id="{1A2E1108-9F13-435C-BEAF-AA8E6F62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5146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受控预测</a:t>
            </a:r>
          </a:p>
        </p:txBody>
      </p:sp>
      <p:sp>
        <p:nvSpPr>
          <p:cNvPr id="32" name="a-step-copy-6">
            <a:extLst xmlns:a="http://schemas.openxmlformats.org/drawingml/2006/main">
              <a:ext uri="{FF2B5EF4-FFF2-40B4-BE49-F238E27FC236}">
                <a16:creationId xmlns:a16="http://schemas.microsoft.com/office/drawing/2014/main" id="{54D1A610-7D7F-498D-89EC-49E45568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990850"/>
            <a:ext cx="1352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范围检查、模型卡与补样计划</a:t>
            </a:r>
          </a:p>
        </p:txBody>
      </p:sp>
      <p:cxnSp>
        <p:nvCxnSpPr>
          <p:cNvPr id="71" name=""/>
          <p:cNvCxnSpPr>
            <a:stCxn xmlns:a="http://schemas.openxmlformats.org/drawingml/2006/main" id="24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9886950" y="29241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181"/>
            </a:solidFill>
            <a:prstDash val="solid"/>
            <a:tailEnd type="triangle" w="sm" len="sm"/>
          </a:ln>
        </p:spPr>
      </p:cxnSp>
      <p:sp>
        <p:nvSpPr>
          <p:cNvPr id="34" name="a-policy-band">
            <a:extLst xmlns:a="http://schemas.openxmlformats.org/drawingml/2006/main">
              <a:ext uri="{FF2B5EF4-FFF2-40B4-BE49-F238E27FC236}">
                <a16:creationId xmlns:a16="http://schemas.microsoft.com/office/drawing/2014/main" id="{053C1502-BA69-45AF-B63F-CC160764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107823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35" name="a-policy-label">
            <a:extLst xmlns:a="http://schemas.openxmlformats.org/drawingml/2006/main">
              <a:ext uri="{FF2B5EF4-FFF2-40B4-BE49-F238E27FC236}">
                <a16:creationId xmlns:a16="http://schemas.microsoft.com/office/drawing/2014/main" id="{3CACDD29-A963-414F-95F3-E082E851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rPr>
              <a:t>运行策略</a:t>
            </a:r>
          </a:p>
        </p:txBody>
      </p:sp>
      <p:sp>
        <p:nvSpPr>
          <p:cNvPr id="36" name="a-policy-copy">
            <a:extLst xmlns:a="http://schemas.openxmlformats.org/drawingml/2006/main">
              <a:ext uri="{FF2B5EF4-FFF2-40B4-BE49-F238E27FC236}">
                <a16:creationId xmlns:a16="http://schemas.microsoft.com/office/drawing/2014/main" id="{A0AD1AEE-13CC-4CDB-A214-35FF1BBC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292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缺少证据时保留未知项；输入越界时停止代理预测；几何、材料或边界变化后重新运行 COMSOL。</a:t>
            </a:r>
          </a:p>
        </p:txBody>
      </p:sp>
      <p:sp>
        <p:nvSpPr>
          <p:cNvPr id="3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DE01E67-0046-447A-B509-4B8A761A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F"/>
            </a:solidFill>
            <a:prstDash val="solid"/>
          </a:ln>
        </p:spPr>
      </p:sp>
      <p:sp>
        <p:nvSpPr>
          <p:cNvPr id="38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F2CE956A-615D-44F2-A783-B8B2CB6F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rPr>
              <a:t>本地项目文件与运行记录</a:t>
            </a:r>
          </a:p>
        </p:txBody>
      </p:sp>
    </p:spTree>
    <p:extLst>
      <p:ext uri="{BB962C8B-B14F-4D97-AF65-F5344CB8AC3E}">
        <p14:creationId xmlns:p14="http://schemas.microsoft.com/office/powerpoint/2010/main" val="15971713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kicker">
            <a:extLst xmlns:a="http://schemas.openxmlformats.org/drawingml/2006/main">
              <a:ext uri="{FF2B5EF4-FFF2-40B4-BE49-F238E27FC236}">
                <a16:creationId xmlns:a16="http://schemas.microsoft.com/office/drawing/2014/main" id="{33F37CAB-3793-42E1-82BC-008E06E7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rPr>
              <a:t>COMSOL 本地智能建模与仿真平台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7CD86A-E980-4CCE-8A5A-166F3580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模型 A：代理模型资产与使用边界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7A6780F-B08C-4416-8F10-D51D95A0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2387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1B43764D-03D0-4BB4-AE1B-E1BE0529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F"/>
            </a:solidFill>
            <a:prstDash val="solid"/>
          </a:ln>
        </p:spPr>
      </p:sp>
      <p:sp>
        <p:nvSpPr>
          <p:cNvPr id="5" name="metric-total">
            <a:extLst xmlns:a="http://schemas.openxmlformats.org/drawingml/2006/main">
              <a:ext uri="{FF2B5EF4-FFF2-40B4-BE49-F238E27FC236}">
                <a16:creationId xmlns:a16="http://schemas.microsoft.com/office/drawing/2014/main" id="{8A6E13D3-027A-40D4-8FB9-0A4E8E74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714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6" name="metric-total-label">
            <a:extLst xmlns:a="http://schemas.openxmlformats.org/drawingml/2006/main">
              <a:ext uri="{FF2B5EF4-FFF2-40B4-BE49-F238E27FC236}">
                <a16:creationId xmlns:a16="http://schemas.microsoft.com/office/drawing/2014/main" id="{44CD45A3-31E3-4927-86BB-5F72F4E8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rPr>
              <a:t>注册表条目</a:t>
            </a:r>
          </a:p>
        </p:txBody>
      </p:sp>
      <p:sp>
        <p:nvSpPr>
          <p:cNvPr id="7" name="metric-validated">
            <a:extLst xmlns:a="http://schemas.openxmlformats.org/drawingml/2006/main">
              <a:ext uri="{FF2B5EF4-FFF2-40B4-BE49-F238E27FC236}">
                <a16:creationId xmlns:a16="http://schemas.microsoft.com/office/drawing/2014/main" id="{9AF53A48-EC19-4E04-A128-D1F7DD9A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81150"/>
            <a:ext cx="1714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8" name="metric-validated-label">
            <a:extLst xmlns:a="http://schemas.openxmlformats.org/drawingml/2006/main">
              <a:ext uri="{FF2B5EF4-FFF2-40B4-BE49-F238E27FC236}">
                <a16:creationId xmlns:a16="http://schemas.microsoft.com/office/drawing/2014/main" id="{68303077-273E-4A90-AE95-ECC6287A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19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rPr>
              <a:t>声明范围内验证通过</a:t>
            </a:r>
          </a:p>
        </p:txBody>
      </p:sp>
      <p:sp>
        <p:nvSpPr>
          <p:cNvPr id="9" name="metric-history">
            <a:extLst xmlns:a="http://schemas.openxmlformats.org/drawingml/2006/main">
              <a:ext uri="{FF2B5EF4-FFF2-40B4-BE49-F238E27FC236}">
                <a16:creationId xmlns:a16="http://schemas.microsoft.com/office/drawing/2014/main" id="{5D81287E-CD25-4DBB-A884-4328FC0B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581150"/>
            <a:ext cx="133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C758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C7584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metric-history-label">
            <a:extLst xmlns:a="http://schemas.openxmlformats.org/drawingml/2006/main">
              <a:ext uri="{FF2B5EF4-FFF2-40B4-BE49-F238E27FC236}">
                <a16:creationId xmlns:a16="http://schemas.microsoft.com/office/drawing/2014/main" id="{82D7702C-0486-469D-9D14-6CE3B658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19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rPr>
              <a:t>未过门槛并已替代</a:t>
            </a:r>
          </a:p>
        </p:txBody>
      </p:sp>
      <p:sp>
        <p:nvSpPr>
          <p:cNvPr id="11" name="metric-rule">
            <a:extLst xmlns:a="http://schemas.openxmlformats.org/drawingml/2006/main">
              <a:ext uri="{FF2B5EF4-FFF2-40B4-BE49-F238E27FC236}">
                <a16:creationId xmlns:a16="http://schemas.microsoft.com/office/drawing/2014/main" id="{4C911DCB-5A97-43E1-89E4-42F702F0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F"/>
            </a:solidFill>
            <a:prstDash val="solid"/>
          </a:ln>
        </p:spPr>
      </p:sp>
      <p:sp>
        <p:nvSpPr>
          <p:cNvPr id="12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1477C6C4-3896-4A19-8DE2-66D21271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rPr>
              <a:t>代表性模型</a:t>
            </a:r>
          </a:p>
        </p:txBody>
      </p:sp>
      <p:sp>
        <p:nvSpPr>
          <p:cNvPr id="13" name="example-name">
            <a:extLst xmlns:a="http://schemas.openxmlformats.org/drawingml/2006/main">
              <a:ext uri="{FF2B5EF4-FFF2-40B4-BE49-F238E27FC236}">
                <a16:creationId xmlns:a16="http://schemas.microsoft.com/office/drawing/2014/main" id="{58238361-C047-4346-858E-9D7F2CAC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二维铜矩形焦耳热温度代理模型</a:t>
            </a:r>
          </a:p>
        </p:txBody>
      </p:sp>
      <p:sp>
        <p:nvSpPr>
          <p:cNvPr id="14" name="example-scope">
            <a:extLst xmlns:a="http://schemas.openxmlformats.org/drawingml/2006/main">
              <a:ext uri="{FF2B5EF4-FFF2-40B4-BE49-F238E27FC236}">
                <a16:creationId xmlns:a16="http://schemas.microsoft.com/office/drawing/2014/main" id="{C8751A17-816E-4688-ABB2-515EBAD6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rPr>
              <a:t>固定条件：100 mm × 50 mm 铜矩形、材料与对流边界不变</a:t>
            </a:r>
          </a:p>
        </p:txBody>
      </p:sp>
      <p:sp>
        <p:nvSpPr>
          <p:cNvPr id="15" name="label-输入">
            <a:extLst xmlns:a="http://schemas.openxmlformats.org/drawingml/2006/main">
              <a:ext uri="{FF2B5EF4-FFF2-40B4-BE49-F238E27FC236}">
                <a16:creationId xmlns:a16="http://schemas.microsoft.com/office/drawing/2014/main" id="{B5D9C609-7085-49F3-8CA9-00754D49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762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F9"/>
          </a:solidFill>
          <a:ln xmlns:a="http://schemas.openxmlformats.org/drawingml/2006/main" w="9525">
            <a:solidFill>
              <a:srgbClr val="DDF4F9"/>
            </a:solidFill>
            <a:prstDash val="solid"/>
          </a:ln>
        </p:spPr>
      </p:sp>
      <p:sp>
        <p:nvSpPr>
          <p:cNvPr id="16" name="label-text-输入">
            <a:extLst xmlns:a="http://schemas.openxmlformats.org/drawingml/2006/main">
              <a:ext uri="{FF2B5EF4-FFF2-40B4-BE49-F238E27FC236}">
                <a16:creationId xmlns:a16="http://schemas.microsoft.com/office/drawing/2014/main" id="{8B20F1C7-3C78-4117-AB1E-4534AC1C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7" name="example-input">
            <a:extLst xmlns:a="http://schemas.openxmlformats.org/drawingml/2006/main">
              <a:ext uri="{FF2B5EF4-FFF2-40B4-BE49-F238E27FC236}">
                <a16:creationId xmlns:a16="http://schemas.microsoft.com/office/drawing/2014/main" id="{24EF91E0-45A1-40F9-9F4C-11C41F8B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495800"/>
            <a:ext cx="1905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BB3D6"/>
            </a:solidFill>
            <a:prstDash val="solid"/>
          </a:ln>
        </p:spPr>
      </p:sp>
      <p:sp>
        <p:nvSpPr>
          <p:cNvPr id="18" name="example-input-text">
            <a:extLst xmlns:a="http://schemas.openxmlformats.org/drawingml/2006/main">
              <a:ext uri="{FF2B5EF4-FFF2-40B4-BE49-F238E27FC236}">
                <a16:creationId xmlns:a16="http://schemas.microsoft.com/office/drawing/2014/main" id="{9CDBEC44-1248-4B97-AF82-8D0ACF30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720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Vtot = 0.1–1 mV</a:t>
            </a:r>
          </a:p>
        </p:txBody>
      </p:sp>
      <p:sp>
        <p:nvSpPr>
          <p:cNvPr id="19" name="example-model">
            <a:extLst xmlns:a="http://schemas.openxmlformats.org/drawingml/2006/main">
              <a:ext uri="{FF2B5EF4-FFF2-40B4-BE49-F238E27FC236}">
                <a16:creationId xmlns:a16="http://schemas.microsoft.com/office/drawing/2014/main" id="{AEF9DB94-B3EB-4E08-8921-7FD9F263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343400"/>
            <a:ext cx="20955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20" name="example-model-title">
            <a:extLst xmlns:a="http://schemas.openxmlformats.org/drawingml/2006/main">
              <a:ext uri="{FF2B5EF4-FFF2-40B4-BE49-F238E27FC236}">
                <a16:creationId xmlns:a16="http://schemas.microsoft.com/office/drawing/2014/main" id="{34BB99B7-2E0B-46B7-B762-2884793D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57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Random Forest</a:t>
            </a:r>
          </a:p>
        </p:txBody>
      </p:sp>
      <p:sp>
        <p:nvSpPr>
          <p:cNvPr id="21" name="example-model-copy">
            <a:extLst xmlns:a="http://schemas.openxmlformats.org/drawingml/2006/main">
              <a:ext uri="{FF2B5EF4-FFF2-40B4-BE49-F238E27FC236}">
                <a16:creationId xmlns:a16="http://schemas.microsoft.com/office/drawing/2014/main" id="{679F5573-C91F-4F7B-BD5A-1A411BA9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762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rPr>
              <a:t>独立留出数据选择</a:t>
            </a:r>
          </a:p>
        </p:txBody>
      </p:sp>
      <p:sp>
        <p:nvSpPr>
          <p:cNvPr id="22" name="example-output">
            <a:extLst xmlns:a="http://schemas.openxmlformats.org/drawingml/2006/main">
              <a:ext uri="{FF2B5EF4-FFF2-40B4-BE49-F238E27FC236}">
                <a16:creationId xmlns:a16="http://schemas.microsoft.com/office/drawing/2014/main" id="{848487EA-DCF4-41A2-B1F5-ABC879CD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67200"/>
            <a:ext cx="2247900" cy="93345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CE8D2"/>
          </a:solidFill>
          <a:ln xmlns:a="http://schemas.openxmlformats.org/drawingml/2006/main" w="9525">
            <a:solidFill>
              <a:srgbClr val="F4A261"/>
            </a:solidFill>
            <a:prstDash val="solid"/>
          </a:ln>
        </p:spPr>
      </p:sp>
      <p:sp>
        <p:nvSpPr>
          <p:cNvPr id="23" name="example-output-label">
            <a:extLst xmlns:a="http://schemas.openxmlformats.org/drawingml/2006/main">
              <a:ext uri="{FF2B5EF4-FFF2-40B4-BE49-F238E27FC236}">
                <a16:creationId xmlns:a16="http://schemas.microsoft.com/office/drawing/2014/main" id="{E99017C2-E2FD-48A6-9BDF-F81478B7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815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A2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4A261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4" name="example-output-text">
            <a:extLst xmlns:a="http://schemas.openxmlformats.org/drawingml/2006/main">
              <a:ext uri="{FF2B5EF4-FFF2-40B4-BE49-F238E27FC236}">
                <a16:creationId xmlns:a16="http://schemas.microsoft.com/office/drawing/2014/main" id="{BA17D841-738E-48A1-9FF0-526FD27E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482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Tmax_K</a:t>
            </a:r>
          </a:p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Tavg_K</a:t>
            </a:r>
          </a:p>
        </p:txBody>
      </p:sp>
      <p:cxnSp>
        <p:nvCxnSpPr>
          <p:cNvPr id="56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3543300" y="47339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B3D6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6305550" y="47339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4A261"/>
            </a:solidFill>
            <a:prstDash val="solid"/>
            <a:tailEnd type="triangle" w="sm" len="sm"/>
          </a:ln>
        </p:spPr>
      </p:cxnSp>
      <p:sp>
        <p:nvSpPr>
          <p:cNvPr id="27" name="scope-warning">
            <a:extLst xmlns:a="http://schemas.openxmlformats.org/drawingml/2006/main">
              <a:ext uri="{FF2B5EF4-FFF2-40B4-BE49-F238E27FC236}">
                <a16:creationId xmlns:a16="http://schemas.microsoft.com/office/drawing/2014/main" id="{AF60E7BC-E35D-4B2C-8E69-E896006B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33750"/>
            <a:ext cx="1885950" cy="1885950"/>
          </a:xfrm>
          <a:prstGeom xmlns:a="http://schemas.openxmlformats.org/drawingml/2006/main" prst="roundRect">
            <a:avLst>
              <a:gd name="adj" fmla="val 505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AD5DF"/>
            </a:solidFill>
            <a:prstDash val="solid"/>
          </a:ln>
        </p:spPr>
      </p:sp>
      <p:sp>
        <p:nvSpPr>
          <p:cNvPr id="28" name="scope-warning-title">
            <a:extLst xmlns:a="http://schemas.openxmlformats.org/drawingml/2006/main">
              <a:ext uri="{FF2B5EF4-FFF2-40B4-BE49-F238E27FC236}">
                <a16:creationId xmlns:a16="http://schemas.microsoft.com/office/drawing/2014/main" id="{36226659-E471-48F9-96FA-7DCF5A62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5242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29" name="scope-warning-copy">
            <a:extLst xmlns:a="http://schemas.openxmlformats.org/drawingml/2006/main">
              <a:ext uri="{FF2B5EF4-FFF2-40B4-BE49-F238E27FC236}">
                <a16:creationId xmlns:a16="http://schemas.microsoft.com/office/drawing/2014/main" id="{6E79AD2E-6F85-4A4C-8459-1EC62070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05250"/>
            <a:ext cx="15049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只做范围内插值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0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改变几何、材料、边界或输入范围后，需要补充 COMSOL 数据并重新验证</a:t>
            </a:r>
          </a:p>
        </p:txBody>
      </p:sp>
      <p:sp>
        <p:nvSpPr>
          <p:cNvPr id="3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574933D-410E-406B-BEE8-91E8DA7A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F"/>
            </a:solidFill>
            <a:prstDash val="solid"/>
          </a:ln>
        </p:spPr>
      </p:sp>
      <p:sp>
        <p:nvSpPr>
          <p:cNvPr id="31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854FF5BE-88F0-497B-87D8-16431EC7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rPr>
              <a:t>来源：正式代理模型注册表与模型卡</a:t>
            </a:r>
          </a:p>
        </p:txBody>
      </p:sp>
    </p:spTree>
    <p:extLst>
      <p:ext uri="{BB962C8B-B14F-4D97-AF65-F5344CB8AC3E}">
        <p14:creationId xmlns:p14="http://schemas.microsoft.com/office/powerpoint/2010/main" val="13570631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kicker">
            <a:extLst xmlns:a="http://schemas.openxmlformats.org/drawingml/2006/main">
              <a:ext uri="{FF2B5EF4-FFF2-40B4-BE49-F238E27FC236}">
                <a16:creationId xmlns:a16="http://schemas.microsoft.com/office/drawing/2014/main" id="{135B1797-D7C9-4754-B53F-5D112122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rPr>
              <a:t>COMSOL 本地智能建模与仿真平台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6B7D25-71B4-456B-A605-02E61514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模型 B：浏览器内的物理场基准工作台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1E4C450-351B-41AF-9E28-B64936F9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2387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44221842-7676-413E-AADF-ED57CC24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F"/>
            </a:solidFill>
            <a:prstDash val="solid"/>
          </a:ln>
        </p:spPr>
      </p:sp>
      <p:sp>
        <p:nvSpPr>
          <p:cNvPr id="5" name="b-browser">
            <a:extLst xmlns:a="http://schemas.openxmlformats.org/drawingml/2006/main">
              <a:ext uri="{FF2B5EF4-FFF2-40B4-BE49-F238E27FC236}">
                <a16:creationId xmlns:a16="http://schemas.microsoft.com/office/drawing/2014/main" id="{AB318F26-FD98-40A1-B3E0-DA7D3D8D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239000" cy="4114800"/>
          </a:xfrm>
          <a:prstGeom xmlns:a="http://schemas.openxmlformats.org/drawingml/2006/main" prst="roundRect">
            <a:avLst>
              <a:gd name="adj" fmla="val 324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AD5DF"/>
            </a:solidFill>
            <a:prstDash val="solid"/>
          </a:ln>
        </p:spPr>
      </p:sp>
      <p:sp>
        <p:nvSpPr>
          <p:cNvPr id="6" name="b-browser-top">
            <a:extLst xmlns:a="http://schemas.openxmlformats.org/drawingml/2006/main">
              <a:ext uri="{FF2B5EF4-FFF2-40B4-BE49-F238E27FC236}">
                <a16:creationId xmlns:a16="http://schemas.microsoft.com/office/drawing/2014/main" id="{E08AE060-C3E2-4917-8161-F0DF6462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2390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b-browser-label">
            <a:extLst xmlns:a="http://schemas.openxmlformats.org/drawingml/2006/main">
              <a:ext uri="{FF2B5EF4-FFF2-40B4-BE49-F238E27FC236}">
                <a16:creationId xmlns:a16="http://schemas.microsoft.com/office/drawing/2014/main" id="{80825837-5BE8-4A2B-AC15-439EA618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62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本地静态页面</a:t>
            </a:r>
          </a:p>
        </p:txBody>
      </p:sp>
      <p:sp>
        <p:nvSpPr>
          <p:cNvPr id="8" name="b-input">
            <a:extLst xmlns:a="http://schemas.openxmlformats.org/drawingml/2006/main">
              <a:ext uri="{FF2B5EF4-FFF2-40B4-BE49-F238E27FC236}">
                <a16:creationId xmlns:a16="http://schemas.microsoft.com/office/drawing/2014/main" id="{690D10DB-09A6-43F6-989B-003DA988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19812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DDF4F9"/>
          </a:solidFill>
          <a:ln xmlns:a="http://schemas.openxmlformats.org/drawingml/2006/main" w="9525">
            <a:solidFill>
              <a:srgbClr val="2BB3D6"/>
            </a:solidFill>
            <a:prstDash val="solid"/>
          </a:ln>
        </p:spPr>
      </p:sp>
      <p:sp>
        <p:nvSpPr>
          <p:cNvPr id="9" name="b-input-title">
            <a:extLst xmlns:a="http://schemas.openxmlformats.org/drawingml/2006/main">
              <a:ext uri="{FF2B5EF4-FFF2-40B4-BE49-F238E27FC236}">
                <a16:creationId xmlns:a16="http://schemas.microsoft.com/office/drawing/2014/main" id="{AD2C7302-0376-4A08-9C75-D19C1AD1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参数输入</a:t>
            </a:r>
          </a:p>
        </p:txBody>
      </p:sp>
      <p:sp>
        <p:nvSpPr>
          <p:cNvPr id="10" name="b-input-copy">
            <a:extLst xmlns:a="http://schemas.openxmlformats.org/drawingml/2006/main">
              <a:ext uri="{FF2B5EF4-FFF2-40B4-BE49-F238E27FC236}">
                <a16:creationId xmlns:a16="http://schemas.microsoft.com/office/drawing/2014/main" id="{D1056775-9066-41F4-9DC7-32CD5513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19375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材料、几何、边界条件</a:t>
            </a:r>
          </a:p>
        </p:txBody>
      </p:sp>
      <p:sp>
        <p:nvSpPr>
          <p:cNvPr id="11" name="b-calc">
            <a:extLst xmlns:a="http://schemas.openxmlformats.org/drawingml/2006/main">
              <a:ext uri="{FF2B5EF4-FFF2-40B4-BE49-F238E27FC236}">
                <a16:creationId xmlns:a16="http://schemas.microsoft.com/office/drawing/2014/main" id="{1F233CBA-197F-445A-9916-AC9A1EA5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90750"/>
            <a:ext cx="19812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12" name="b-calc-title">
            <a:extLst xmlns:a="http://schemas.openxmlformats.org/drawingml/2006/main">
              <a:ext uri="{FF2B5EF4-FFF2-40B4-BE49-F238E27FC236}">
                <a16:creationId xmlns:a16="http://schemas.microsoft.com/office/drawing/2014/main" id="{FFA6AFA0-E64E-49EC-BB40-6FA462F4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860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计算核心</a:t>
            </a:r>
          </a:p>
        </p:txBody>
      </p:sp>
      <p:sp>
        <p:nvSpPr>
          <p:cNvPr id="13" name="b-calc-copy">
            <a:extLst xmlns:a="http://schemas.openxmlformats.org/drawingml/2006/main">
              <a:ext uri="{FF2B5EF4-FFF2-40B4-BE49-F238E27FC236}">
                <a16:creationId xmlns:a16="http://schemas.microsoft.com/office/drawing/2014/main" id="{45CFF4B6-E270-4C55-93D9-20222EC9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19375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86117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解析式、降阶关系、有限差分</a:t>
            </a:r>
          </a:p>
        </p:txBody>
      </p:sp>
      <p:sp>
        <p:nvSpPr>
          <p:cNvPr id="14" name="b-output">
            <a:extLst xmlns:a="http://schemas.openxmlformats.org/drawingml/2006/main">
              <a:ext uri="{FF2B5EF4-FFF2-40B4-BE49-F238E27FC236}">
                <a16:creationId xmlns:a16="http://schemas.microsoft.com/office/drawing/2014/main" id="{B68E8AB1-3AD9-4D96-874D-940BCC62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90750"/>
            <a:ext cx="19812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CE8D2"/>
          </a:solidFill>
          <a:ln xmlns:a="http://schemas.openxmlformats.org/drawingml/2006/main" w="9525">
            <a:solidFill>
              <a:srgbClr val="F4A261"/>
            </a:solidFill>
            <a:prstDash val="solid"/>
          </a:ln>
        </p:spPr>
      </p:sp>
      <p:sp>
        <p:nvSpPr>
          <p:cNvPr id="15" name="b-output-title">
            <a:extLst xmlns:a="http://schemas.openxmlformats.org/drawingml/2006/main">
              <a:ext uri="{FF2B5EF4-FFF2-40B4-BE49-F238E27FC236}">
                <a16:creationId xmlns:a16="http://schemas.microsoft.com/office/drawing/2014/main" id="{4DAA3E4E-74A3-44F9-878D-DD1C2FF6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2860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结果表达</a:t>
            </a:r>
          </a:p>
        </p:txBody>
      </p:sp>
      <p:sp>
        <p:nvSpPr>
          <p:cNvPr id="16" name="b-output-copy">
            <a:extLst xmlns:a="http://schemas.openxmlformats.org/drawingml/2006/main">
              <a:ext uri="{FF2B5EF4-FFF2-40B4-BE49-F238E27FC236}">
                <a16:creationId xmlns:a16="http://schemas.microsoft.com/office/drawing/2014/main" id="{A05B2FBE-93F7-44A1-A408-69371009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19375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86117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曲线、误差、收敛与三维预览</a:t>
            </a:r>
          </a:p>
        </p:txBody>
      </p:sp>
      <p:cxnSp>
        <p:nvCxnSpPr>
          <p:cNvPr id="53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876550" y="26384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B3D6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219700" y="26384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4A261"/>
            </a:solidFill>
            <a:prstDash val="solid"/>
            <a:tailEnd type="triangle" w="sm" len="sm"/>
          </a:ln>
        </p:spPr>
      </p:cxnSp>
      <p:sp>
        <p:nvSpPr>
          <p:cNvPr id="19" name="b-stack-label">
            <a:extLst xmlns:a="http://schemas.openxmlformats.org/drawingml/2006/main">
              <a:ext uri="{FF2B5EF4-FFF2-40B4-BE49-F238E27FC236}">
                <a16:creationId xmlns:a16="http://schemas.microsoft.com/office/drawing/2014/main" id="{BC8A3A66-9DDD-44B4-AFC6-91B9927C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rPr>
              <a:t>运行组成</a:t>
            </a:r>
          </a:p>
        </p:txBody>
      </p:sp>
      <p:sp>
        <p:nvSpPr>
          <p:cNvPr id="20" name="b-stack-html">
            <a:extLst xmlns:a="http://schemas.openxmlformats.org/drawingml/2006/main">
              <a:ext uri="{FF2B5EF4-FFF2-40B4-BE49-F238E27FC236}">
                <a16:creationId xmlns:a16="http://schemas.microsoft.com/office/drawing/2014/main" id="{2E5BF1E8-01D6-426B-B671-AA2978F8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index.html</a:t>
            </a:r>
          </a:p>
        </p:txBody>
      </p:sp>
      <p:sp>
        <p:nvSpPr>
          <p:cNvPr id="21" name="b-stack-html-copy">
            <a:extLst xmlns:a="http://schemas.openxmlformats.org/drawingml/2006/main">
              <a:ext uri="{FF2B5EF4-FFF2-40B4-BE49-F238E27FC236}">
                <a16:creationId xmlns:a16="http://schemas.microsoft.com/office/drawing/2014/main" id="{8118D879-005E-4284-A61D-AAD2D465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481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界面、模型定义、计算逻辑与绘图</a:t>
            </a:r>
          </a:p>
        </p:txBody>
      </p:sp>
      <p:sp>
        <p:nvSpPr>
          <p:cNvPr id="22" name="b-stack-rule-1">
            <a:extLst xmlns:a="http://schemas.openxmlformats.org/drawingml/2006/main">
              <a:ext uri="{FF2B5EF4-FFF2-40B4-BE49-F238E27FC236}">
                <a16:creationId xmlns:a16="http://schemas.microsoft.com/office/drawing/2014/main" id="{6F4A7F27-8FB8-40D6-8BF3-59B1BF00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4815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F"/>
            </a:solidFill>
            <a:prstDash val="solid"/>
          </a:ln>
        </p:spPr>
      </p:sp>
      <p:sp>
        <p:nvSpPr>
          <p:cNvPr id="23" name="b-stack-three">
            <a:extLst xmlns:a="http://schemas.openxmlformats.org/drawingml/2006/main">
              <a:ext uri="{FF2B5EF4-FFF2-40B4-BE49-F238E27FC236}">
                <a16:creationId xmlns:a16="http://schemas.microsoft.com/office/drawing/2014/main" id="{393E3492-8C74-4B2A-BFB3-989690F5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Three.js</a:t>
            </a:r>
          </a:p>
        </p:txBody>
      </p:sp>
      <p:sp>
        <p:nvSpPr>
          <p:cNvPr id="24" name="b-stack-three-copy">
            <a:extLst xmlns:a="http://schemas.openxmlformats.org/drawingml/2006/main">
              <a:ext uri="{FF2B5EF4-FFF2-40B4-BE49-F238E27FC236}">
                <a16:creationId xmlns:a16="http://schemas.microsoft.com/office/drawing/2014/main" id="{83CAEAD7-7652-4399-88CF-0B99B605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3624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平板、圆管与悬臂梁三维基准结构</a:t>
            </a:r>
          </a:p>
        </p:txBody>
      </p:sp>
      <p:sp>
        <p:nvSpPr>
          <p:cNvPr id="25" name="b-stack-rule-2">
            <a:extLst xmlns:a="http://schemas.openxmlformats.org/drawingml/2006/main">
              <a:ext uri="{FF2B5EF4-FFF2-40B4-BE49-F238E27FC236}">
                <a16:creationId xmlns:a16="http://schemas.microsoft.com/office/drawing/2014/main" id="{3095B6A1-DB98-4A9E-93D1-9239A17D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F"/>
            </a:solidFill>
            <a:prstDash val="solid"/>
          </a:ln>
        </p:spPr>
      </p:sp>
      <p:sp>
        <p:nvSpPr>
          <p:cNvPr id="26" name="b-stack-app">
            <a:extLst xmlns:a="http://schemas.openxmlformats.org/drawingml/2006/main">
              <a:ext uri="{FF2B5EF4-FFF2-40B4-BE49-F238E27FC236}">
                <a16:creationId xmlns:a16="http://schemas.microsoft.com/office/drawing/2014/main" id="{67A258AA-646F-4608-9DF1-013D5FAC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app.py / EXE</a:t>
            </a:r>
          </a:p>
        </p:txBody>
      </p:sp>
      <p:sp>
        <p:nvSpPr>
          <p:cNvPr id="27" name="b-stack-app-copy">
            <a:extLst xmlns:a="http://schemas.openxmlformats.org/drawingml/2006/main">
              <a:ext uri="{FF2B5EF4-FFF2-40B4-BE49-F238E27FC236}">
                <a16:creationId xmlns:a16="http://schemas.microsoft.com/office/drawing/2014/main" id="{B8626811-512B-4C78-9328-8975A53E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8768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启动本地服务并自动打开浏览器</a:t>
            </a:r>
          </a:p>
        </p:txBody>
      </p:sp>
      <p:sp>
        <p:nvSpPr>
          <p:cNvPr id="28" name="b-features-label">
            <a:extLst xmlns:a="http://schemas.openxmlformats.org/drawingml/2006/main">
              <a:ext uri="{FF2B5EF4-FFF2-40B4-BE49-F238E27FC236}">
                <a16:creationId xmlns:a16="http://schemas.microsoft.com/office/drawing/2014/main" id="{2BEC43E0-F7DA-482B-B1F2-ED3BBEA2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81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A2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4A261"/>
                </a:solidFill>
                <a:latin typeface="Microsoft YaHei"/>
                <a:ea typeface="Microsoft YaHei"/>
                <a:cs typeface="Microsoft YaHei"/>
              </a:rPr>
              <a:t>运行特点</a:t>
            </a:r>
          </a:p>
        </p:txBody>
      </p:sp>
      <p:sp>
        <p:nvSpPr>
          <p:cNvPr id="29" name="b-feature-1">
            <a:extLst xmlns:a="http://schemas.openxmlformats.org/drawingml/2006/main">
              <a:ext uri="{FF2B5EF4-FFF2-40B4-BE49-F238E27FC236}">
                <a16:creationId xmlns:a16="http://schemas.microsoft.com/office/drawing/2014/main" id="{3654CD44-37F9-42F6-A849-425D5355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526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离线运行</a:t>
            </a:r>
          </a:p>
        </p:txBody>
      </p:sp>
      <p:sp>
        <p:nvSpPr>
          <p:cNvPr id="30" name="b-feature-1-copy">
            <a:extLst xmlns:a="http://schemas.openxmlformats.org/drawingml/2006/main">
              <a:ext uri="{FF2B5EF4-FFF2-40B4-BE49-F238E27FC236}">
                <a16:creationId xmlns:a16="http://schemas.microsoft.com/office/drawing/2014/main" id="{9226A3F9-FB72-4917-B4A1-46A8D8FB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3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rPr>
              <a:t>不调用数据库和远程服务</a:t>
            </a:r>
          </a:p>
        </p:txBody>
      </p:sp>
      <p:sp>
        <p:nvSpPr>
          <p:cNvPr id="31" name="b-feature-2">
            <a:extLst xmlns:a="http://schemas.openxmlformats.org/drawingml/2006/main">
              <a:ext uri="{FF2B5EF4-FFF2-40B4-BE49-F238E27FC236}">
                <a16:creationId xmlns:a16="http://schemas.microsoft.com/office/drawing/2014/main" id="{B7312E16-F7EA-4B08-967F-96395A79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实时反馈</a:t>
            </a:r>
          </a:p>
        </p:txBody>
      </p:sp>
      <p:sp>
        <p:nvSpPr>
          <p:cNvPr id="32" name="b-feature-2-copy">
            <a:extLst xmlns:a="http://schemas.openxmlformats.org/drawingml/2006/main">
              <a:ext uri="{FF2B5EF4-FFF2-40B4-BE49-F238E27FC236}">
                <a16:creationId xmlns:a16="http://schemas.microsoft.com/office/drawing/2014/main" id="{57117494-9668-48CC-BFFC-DE720E0D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433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rPr>
              <a:t>修改参数后立即重算并更新图形</a:t>
            </a:r>
          </a:p>
        </p:txBody>
      </p:sp>
      <p:sp>
        <p:nvSpPr>
          <p:cNvPr id="33" name="b-feature-3">
            <a:extLst xmlns:a="http://schemas.openxmlformats.org/drawingml/2006/main">
              <a:ext uri="{FF2B5EF4-FFF2-40B4-BE49-F238E27FC236}">
                <a16:creationId xmlns:a16="http://schemas.microsoft.com/office/drawing/2014/main" id="{6D4B0A5F-C6F3-4A58-8634-5292E72C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815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开放工作链</a:t>
            </a:r>
          </a:p>
        </p:txBody>
      </p:sp>
      <p:sp>
        <p:nvSpPr>
          <p:cNvPr id="34" name="b-feature-3-copy">
            <a:extLst xmlns:a="http://schemas.openxmlformats.org/drawingml/2006/main">
              <a:ext uri="{FF2B5EF4-FFF2-40B4-BE49-F238E27FC236}">
                <a16:creationId xmlns:a16="http://schemas.microsoft.com/office/drawing/2014/main" id="{8B302A32-BCBE-4A12-96E0-1BD0704A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625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rPr>
              <a:t>通过 JSON 导入和导出模型配置</a:t>
            </a:r>
          </a:p>
        </p:txBody>
      </p:sp>
      <p:sp>
        <p:nvSpPr>
          <p:cNvPr id="3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0774CB1-DB71-4C13-A673-E0DCE521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F"/>
            </a:solidFill>
            <a:prstDash val="solid"/>
          </a:ln>
        </p:spPr>
      </p:sp>
      <p:sp>
        <p:nvSpPr>
          <p:cNvPr id="3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F605375D-55B7-485D-8519-D670A935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rPr>
              <a:t>来源：one_dimensional_web_lab/index.html 与 app.py</a:t>
            </a:r>
          </a:p>
        </p:txBody>
      </p:sp>
    </p:spTree>
    <p:extLst>
      <p:ext uri="{BB962C8B-B14F-4D97-AF65-F5344CB8AC3E}">
        <p14:creationId xmlns:p14="http://schemas.microsoft.com/office/powerpoint/2010/main" val="16869178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kicker">
            <a:extLst xmlns:a="http://schemas.openxmlformats.org/drawingml/2006/main">
              <a:ext uri="{FF2B5EF4-FFF2-40B4-BE49-F238E27FC236}">
                <a16:creationId xmlns:a16="http://schemas.microsoft.com/office/drawing/2014/main" id="{8646C425-0D11-4DE1-847F-52D2AFD9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rPr>
              <a:t>COMSOL 本地智能建模与仿真平台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D55AE2-D6FC-45F6-A8AF-84595138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模型 B：14 类物理领域与两种计算层级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43DBBD5-608C-4AD1-A4D2-36D84793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2387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C9EF1B38-DB12-4FBA-9D3C-4A7AA0D2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F"/>
            </a:solidFill>
            <a:prstDash val="solid"/>
          </a:ln>
        </p:spPr>
      </p:sp>
      <p:sp>
        <p:nvSpPr>
          <p:cNvPr id="5" name="b-level-1-title">
            <a:extLst xmlns:a="http://schemas.openxmlformats.org/drawingml/2006/main">
              <a:ext uri="{FF2B5EF4-FFF2-40B4-BE49-F238E27FC236}">
                <a16:creationId xmlns:a16="http://schemas.microsoft.com/office/drawing/2014/main" id="{E93FCB57-E2DC-41C7-8D7E-8DFDEEC8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rPr>
              <a:t>实际离散计算</a:t>
            </a:r>
          </a:p>
        </p:txBody>
      </p:sp>
      <p:sp>
        <p:nvSpPr>
          <p:cNvPr id="6" name="b-level-1-copy">
            <a:extLst xmlns:a="http://schemas.openxmlformats.org/drawingml/2006/main">
              <a:ext uri="{FF2B5EF4-FFF2-40B4-BE49-F238E27FC236}">
                <a16:creationId xmlns:a16="http://schemas.microsoft.com/office/drawing/2014/main" id="{8450A21E-C1C4-4745-A672-B193CCAF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同时给出解析基准和一维数值结果，可检查误差与网格收敛。</a:t>
            </a:r>
          </a:p>
        </p:txBody>
      </p:sp>
      <p:sp>
        <p:nvSpPr>
          <p:cNvPr id="7" name="label-传热">
            <a:extLst xmlns:a="http://schemas.openxmlformats.org/drawingml/2006/main">
              <a:ext uri="{FF2B5EF4-FFF2-40B4-BE49-F238E27FC236}">
                <a16:creationId xmlns:a16="http://schemas.microsoft.com/office/drawing/2014/main" id="{7C72F8EA-2A5D-4867-A4A5-952A002E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1371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F9"/>
          </a:solidFill>
          <a:ln xmlns:a="http://schemas.openxmlformats.org/drawingml/2006/main" w="9525">
            <a:solidFill>
              <a:srgbClr val="DDF4F9"/>
            </a:solidFill>
            <a:prstDash val="solid"/>
          </a:ln>
        </p:spPr>
      </p:sp>
      <p:sp>
        <p:nvSpPr>
          <p:cNvPr id="8" name="label-text-传热">
            <a:extLst xmlns:a="http://schemas.openxmlformats.org/drawingml/2006/main">
              <a:ext uri="{FF2B5EF4-FFF2-40B4-BE49-F238E27FC236}">
                <a16:creationId xmlns:a16="http://schemas.microsoft.com/office/drawing/2014/main" id="{EB154EF7-1790-4359-9EFB-B740F53C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传热</a:t>
            </a:r>
          </a:p>
        </p:txBody>
      </p:sp>
      <p:sp>
        <p:nvSpPr>
          <p:cNvPr id="9" name="label-传质与反应">
            <a:extLst xmlns:a="http://schemas.openxmlformats.org/drawingml/2006/main">
              <a:ext uri="{FF2B5EF4-FFF2-40B4-BE49-F238E27FC236}">
                <a16:creationId xmlns:a16="http://schemas.microsoft.com/office/drawing/2014/main" id="{EF69306E-48C8-4E59-8084-5ED5F573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28900"/>
            <a:ext cx="1371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F9"/>
          </a:solidFill>
          <a:ln xmlns:a="http://schemas.openxmlformats.org/drawingml/2006/main" w="9525">
            <a:solidFill>
              <a:srgbClr val="DDF4F9"/>
            </a:solidFill>
            <a:prstDash val="solid"/>
          </a:ln>
        </p:spPr>
      </p:sp>
      <p:sp>
        <p:nvSpPr>
          <p:cNvPr id="10" name="label-text-传质与反应">
            <a:extLst xmlns:a="http://schemas.openxmlformats.org/drawingml/2006/main">
              <a:ext uri="{FF2B5EF4-FFF2-40B4-BE49-F238E27FC236}">
                <a16:creationId xmlns:a16="http://schemas.microsoft.com/office/drawing/2014/main" id="{3AA7A5F1-56F1-4C54-8F5C-4FE54DC9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479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传质与反应</a:t>
            </a:r>
          </a:p>
        </p:txBody>
      </p:sp>
      <p:sp>
        <p:nvSpPr>
          <p:cNvPr id="11" name="label-低频电磁">
            <a:extLst xmlns:a="http://schemas.openxmlformats.org/drawingml/2006/main">
              <a:ext uri="{FF2B5EF4-FFF2-40B4-BE49-F238E27FC236}">
                <a16:creationId xmlns:a16="http://schemas.microsoft.com/office/drawing/2014/main" id="{60BB6E37-A5C0-467E-A561-86F4A4D1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28900"/>
            <a:ext cx="1371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F9"/>
          </a:solidFill>
          <a:ln xmlns:a="http://schemas.openxmlformats.org/drawingml/2006/main" w="9525">
            <a:solidFill>
              <a:srgbClr val="DDF4F9"/>
            </a:solidFill>
            <a:prstDash val="solid"/>
          </a:ln>
        </p:spPr>
      </p:sp>
      <p:sp>
        <p:nvSpPr>
          <p:cNvPr id="12" name="label-text-低频电磁">
            <a:extLst xmlns:a="http://schemas.openxmlformats.org/drawingml/2006/main">
              <a:ext uri="{FF2B5EF4-FFF2-40B4-BE49-F238E27FC236}">
                <a16:creationId xmlns:a16="http://schemas.microsoft.com/office/drawing/2014/main" id="{2A9C07AE-E620-45F8-99DD-812E2AA4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479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低频电磁</a:t>
            </a:r>
          </a:p>
        </p:txBody>
      </p:sp>
      <p:sp>
        <p:nvSpPr>
          <p:cNvPr id="13" name="label-热声">
            <a:extLst xmlns:a="http://schemas.openxmlformats.org/drawingml/2006/main">
              <a:ext uri="{FF2B5EF4-FFF2-40B4-BE49-F238E27FC236}">
                <a16:creationId xmlns:a16="http://schemas.microsoft.com/office/drawing/2014/main" id="{DEC0417A-3548-4239-89C3-768D4326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1371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F9"/>
          </a:solidFill>
          <a:ln xmlns:a="http://schemas.openxmlformats.org/drawingml/2006/main" w="9525">
            <a:solidFill>
              <a:srgbClr val="DDF4F9"/>
            </a:solidFill>
            <a:prstDash val="solid"/>
          </a:ln>
        </p:spPr>
      </p:sp>
      <p:sp>
        <p:nvSpPr>
          <p:cNvPr id="14" name="label-text-热声">
            <a:extLst xmlns:a="http://schemas.openxmlformats.org/drawingml/2006/main">
              <a:ext uri="{FF2B5EF4-FFF2-40B4-BE49-F238E27FC236}">
                <a16:creationId xmlns:a16="http://schemas.microsoft.com/office/drawing/2014/main" id="{FBF50FEC-092D-4C92-87E1-075B058E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热声</a:t>
            </a:r>
          </a:p>
        </p:txBody>
      </p:sp>
      <p:sp>
        <p:nvSpPr>
          <p:cNvPr id="15" name="label-数学 PDE">
            <a:extLst xmlns:a="http://schemas.openxmlformats.org/drawingml/2006/main">
              <a:ext uri="{FF2B5EF4-FFF2-40B4-BE49-F238E27FC236}">
                <a16:creationId xmlns:a16="http://schemas.microsoft.com/office/drawing/2014/main" id="{187BBC20-16B5-4918-92AE-34E66769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43250"/>
            <a:ext cx="1371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F9"/>
          </a:solidFill>
          <a:ln xmlns:a="http://schemas.openxmlformats.org/drawingml/2006/main" w="9525">
            <a:solidFill>
              <a:srgbClr val="DDF4F9"/>
            </a:solidFill>
            <a:prstDash val="solid"/>
          </a:ln>
        </p:spPr>
      </p:sp>
      <p:sp>
        <p:nvSpPr>
          <p:cNvPr id="16" name="label-text-数学 PDE">
            <a:extLst xmlns:a="http://schemas.openxmlformats.org/drawingml/2006/main">
              <a:ext uri="{FF2B5EF4-FFF2-40B4-BE49-F238E27FC236}">
                <a16:creationId xmlns:a16="http://schemas.microsoft.com/office/drawing/2014/main" id="{C6673352-F555-4EED-8CBA-A3C0C876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623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数学 PDE</a:t>
            </a:r>
          </a:p>
        </p:txBody>
      </p:sp>
      <p:sp>
        <p:nvSpPr>
          <p:cNvPr id="17" name="b-level-2-title">
            <a:extLst xmlns:a="http://schemas.openxmlformats.org/drawingml/2006/main">
              <a:ext uri="{FF2B5EF4-FFF2-40B4-BE49-F238E27FC236}">
                <a16:creationId xmlns:a16="http://schemas.microsoft.com/office/drawing/2014/main" id="{83948A30-AF8F-4637-9C93-E45A4DB8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62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A2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4A261"/>
                </a:solidFill>
                <a:latin typeface="Microsoft YaHei"/>
                <a:ea typeface="Microsoft YaHei"/>
                <a:cs typeface="Microsoft YaHei"/>
              </a:rPr>
              <a:t>解析或降阶基准</a:t>
            </a:r>
          </a:p>
        </p:txBody>
      </p:sp>
      <p:sp>
        <p:nvSpPr>
          <p:cNvPr id="18" name="b-level-2-copy">
            <a:extLst xmlns:a="http://schemas.openxmlformats.org/drawingml/2006/main">
              <a:ext uri="{FF2B5EF4-FFF2-40B4-BE49-F238E27FC236}">
                <a16:creationId xmlns:a16="http://schemas.microsoft.com/office/drawing/2014/main" id="{52BD95B2-1E22-4A64-814E-B0F7DBEB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用于量纲、参数趋势和目标输出检查，为后续高保真仿真提供参照。</a:t>
            </a:r>
          </a:p>
        </p:txBody>
      </p:sp>
      <p:sp>
        <p:nvSpPr>
          <p:cNvPr id="19" name="label-射频">
            <a:extLst xmlns:a="http://schemas.openxmlformats.org/drawingml/2006/main">
              <a:ext uri="{FF2B5EF4-FFF2-40B4-BE49-F238E27FC236}">
                <a16:creationId xmlns:a16="http://schemas.microsoft.com/office/drawing/2014/main" id="{B76AA90A-342F-4C6E-A403-89597407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67300"/>
            <a:ext cx="1371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8D2"/>
          </a:solidFill>
          <a:ln xmlns:a="http://schemas.openxmlformats.org/drawingml/2006/main" w="9525">
            <a:solidFill>
              <a:srgbClr val="FCE8D2"/>
            </a:solidFill>
            <a:prstDash val="solid"/>
          </a:ln>
        </p:spPr>
      </p:sp>
      <p:sp>
        <p:nvSpPr>
          <p:cNvPr id="20" name="label-text-射频">
            <a:extLst xmlns:a="http://schemas.openxmlformats.org/drawingml/2006/main">
              <a:ext uri="{FF2B5EF4-FFF2-40B4-BE49-F238E27FC236}">
                <a16:creationId xmlns:a16="http://schemas.microsoft.com/office/drawing/2014/main" id="{A6B483A7-A041-47A6-9C6C-3E4958EF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射频</a:t>
            </a:r>
          </a:p>
        </p:txBody>
      </p:sp>
      <p:sp>
        <p:nvSpPr>
          <p:cNvPr id="21" name="label-光学">
            <a:extLst xmlns:a="http://schemas.openxmlformats.org/drawingml/2006/main">
              <a:ext uri="{FF2B5EF4-FFF2-40B4-BE49-F238E27FC236}">
                <a16:creationId xmlns:a16="http://schemas.microsoft.com/office/drawing/2014/main" id="{ED5A1D0E-6F4C-4A72-A374-B02BB6EF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67300"/>
            <a:ext cx="1371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8D2"/>
          </a:solidFill>
          <a:ln xmlns:a="http://schemas.openxmlformats.org/drawingml/2006/main" w="9525">
            <a:solidFill>
              <a:srgbClr val="FCE8D2"/>
            </a:solidFill>
            <a:prstDash val="solid"/>
          </a:ln>
        </p:spPr>
      </p:sp>
      <p:sp>
        <p:nvSpPr>
          <p:cNvPr id="22" name="label-text-光学">
            <a:extLst xmlns:a="http://schemas.openxmlformats.org/drawingml/2006/main">
              <a:ext uri="{FF2B5EF4-FFF2-40B4-BE49-F238E27FC236}">
                <a16:creationId xmlns:a16="http://schemas.microsoft.com/office/drawing/2014/main" id="{45A34741-E0B5-4D75-89E4-82A79FAA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0863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光学</a:t>
            </a:r>
          </a:p>
        </p:txBody>
      </p:sp>
      <p:sp>
        <p:nvSpPr>
          <p:cNvPr id="23" name="label-半导体">
            <a:extLst xmlns:a="http://schemas.openxmlformats.org/drawingml/2006/main">
              <a:ext uri="{FF2B5EF4-FFF2-40B4-BE49-F238E27FC236}">
                <a16:creationId xmlns:a16="http://schemas.microsoft.com/office/drawing/2014/main" id="{652681FD-F755-456F-BB4B-255CC144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067300"/>
            <a:ext cx="1371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8D2"/>
          </a:solidFill>
          <a:ln xmlns:a="http://schemas.openxmlformats.org/drawingml/2006/main" w="9525">
            <a:solidFill>
              <a:srgbClr val="FCE8D2"/>
            </a:solidFill>
            <a:prstDash val="solid"/>
          </a:ln>
        </p:spPr>
      </p:sp>
      <p:sp>
        <p:nvSpPr>
          <p:cNvPr id="24" name="label-text-半导体">
            <a:extLst xmlns:a="http://schemas.openxmlformats.org/drawingml/2006/main">
              <a:ext uri="{FF2B5EF4-FFF2-40B4-BE49-F238E27FC236}">
                <a16:creationId xmlns:a16="http://schemas.microsoft.com/office/drawing/2014/main" id="{14061DF3-05DE-4AF3-B7AB-7AA84CDE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0863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半导体</a:t>
            </a:r>
          </a:p>
        </p:txBody>
      </p:sp>
      <p:sp>
        <p:nvSpPr>
          <p:cNvPr id="25" name="label-等离子体">
            <a:extLst xmlns:a="http://schemas.openxmlformats.org/drawingml/2006/main">
              <a:ext uri="{FF2B5EF4-FFF2-40B4-BE49-F238E27FC236}">
                <a16:creationId xmlns:a16="http://schemas.microsoft.com/office/drawing/2014/main" id="{55F81BA1-86B4-4085-B08D-C5862D2B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67350"/>
            <a:ext cx="1371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8D2"/>
          </a:solidFill>
          <a:ln xmlns:a="http://schemas.openxmlformats.org/drawingml/2006/main" w="9525">
            <a:solidFill>
              <a:srgbClr val="FCE8D2"/>
            </a:solidFill>
            <a:prstDash val="solid"/>
          </a:ln>
        </p:spPr>
      </p:sp>
      <p:sp>
        <p:nvSpPr>
          <p:cNvPr id="26" name="label-text-等离子体">
            <a:extLst xmlns:a="http://schemas.openxmlformats.org/drawingml/2006/main">
              <a:ext uri="{FF2B5EF4-FFF2-40B4-BE49-F238E27FC236}">
                <a16:creationId xmlns:a16="http://schemas.microsoft.com/office/drawing/2014/main" id="{0E60BDBE-6D35-48FB-97C1-D5997D4D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等离子体</a:t>
            </a:r>
          </a:p>
        </p:txBody>
      </p:sp>
      <p:sp>
        <p:nvSpPr>
          <p:cNvPr id="27" name="label-结构">
            <a:extLst xmlns:a="http://schemas.openxmlformats.org/drawingml/2006/main">
              <a:ext uri="{FF2B5EF4-FFF2-40B4-BE49-F238E27FC236}">
                <a16:creationId xmlns:a16="http://schemas.microsoft.com/office/drawing/2014/main" id="{7287A28A-C2D0-4CEE-A94E-4E55C22F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67350"/>
            <a:ext cx="1371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8D2"/>
          </a:solidFill>
          <a:ln xmlns:a="http://schemas.openxmlformats.org/drawingml/2006/main" w="9525">
            <a:solidFill>
              <a:srgbClr val="FCE8D2"/>
            </a:solidFill>
            <a:prstDash val="solid"/>
          </a:ln>
        </p:spPr>
      </p:sp>
      <p:sp>
        <p:nvSpPr>
          <p:cNvPr id="28" name="label-text-结构">
            <a:extLst xmlns:a="http://schemas.openxmlformats.org/drawingml/2006/main">
              <a:ext uri="{FF2B5EF4-FFF2-40B4-BE49-F238E27FC236}">
                <a16:creationId xmlns:a16="http://schemas.microsoft.com/office/drawing/2014/main" id="{6386DA2B-F38F-4668-89EA-6BC8C3F7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864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结构</a:t>
            </a:r>
          </a:p>
        </p:txBody>
      </p:sp>
      <p:sp>
        <p:nvSpPr>
          <p:cNvPr id="29" name="label-声学">
            <a:extLst xmlns:a="http://schemas.openxmlformats.org/drawingml/2006/main">
              <a:ext uri="{FF2B5EF4-FFF2-40B4-BE49-F238E27FC236}">
                <a16:creationId xmlns:a16="http://schemas.microsoft.com/office/drawing/2014/main" id="{E3336890-6E34-423B-985A-A983B973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467350"/>
            <a:ext cx="1371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8D2"/>
          </a:solidFill>
          <a:ln xmlns:a="http://schemas.openxmlformats.org/drawingml/2006/main" w="9525">
            <a:solidFill>
              <a:srgbClr val="FCE8D2"/>
            </a:solidFill>
            <a:prstDash val="solid"/>
          </a:ln>
        </p:spPr>
      </p:sp>
      <p:sp>
        <p:nvSpPr>
          <p:cNvPr id="30" name="label-text-声学">
            <a:extLst xmlns:a="http://schemas.openxmlformats.org/drawingml/2006/main">
              <a:ext uri="{FF2B5EF4-FFF2-40B4-BE49-F238E27FC236}">
                <a16:creationId xmlns:a16="http://schemas.microsoft.com/office/drawing/2014/main" id="{A1D59ADF-C8A0-45C7-9CFC-9AEBAC1E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4864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声学</a:t>
            </a:r>
          </a:p>
        </p:txBody>
      </p:sp>
      <p:sp>
        <p:nvSpPr>
          <p:cNvPr id="31" name="label-流体">
            <a:extLst xmlns:a="http://schemas.openxmlformats.org/drawingml/2006/main">
              <a:ext uri="{FF2B5EF4-FFF2-40B4-BE49-F238E27FC236}">
                <a16:creationId xmlns:a16="http://schemas.microsoft.com/office/drawing/2014/main" id="{9A61D5AE-FF95-4F4C-9A70-9CBC7810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67400"/>
            <a:ext cx="1371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8D2"/>
          </a:solidFill>
          <a:ln xmlns:a="http://schemas.openxmlformats.org/drawingml/2006/main" w="9525">
            <a:solidFill>
              <a:srgbClr val="FCE8D2"/>
            </a:solidFill>
            <a:prstDash val="solid"/>
          </a:ln>
        </p:spPr>
      </p:sp>
      <p:sp>
        <p:nvSpPr>
          <p:cNvPr id="32" name="label-text-流体">
            <a:extLst xmlns:a="http://schemas.openxmlformats.org/drawingml/2006/main">
              <a:ext uri="{FF2B5EF4-FFF2-40B4-BE49-F238E27FC236}">
                <a16:creationId xmlns:a16="http://schemas.microsoft.com/office/drawing/2014/main" id="{C0095612-7D84-4111-A5A7-61A38058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流体</a:t>
            </a:r>
          </a:p>
        </p:txBody>
      </p:sp>
      <p:sp>
        <p:nvSpPr>
          <p:cNvPr id="33" name="label-电化学">
            <a:extLst xmlns:a="http://schemas.openxmlformats.org/drawingml/2006/main">
              <a:ext uri="{FF2B5EF4-FFF2-40B4-BE49-F238E27FC236}">
                <a16:creationId xmlns:a16="http://schemas.microsoft.com/office/drawing/2014/main" id="{12FB3C0F-41E0-488D-A6FF-9777B341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67400"/>
            <a:ext cx="1371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8D2"/>
          </a:solidFill>
          <a:ln xmlns:a="http://schemas.openxmlformats.org/drawingml/2006/main" w="9525">
            <a:solidFill>
              <a:srgbClr val="FCE8D2"/>
            </a:solidFill>
            <a:prstDash val="solid"/>
          </a:ln>
        </p:spPr>
      </p:sp>
      <p:sp>
        <p:nvSpPr>
          <p:cNvPr id="34" name="label-text-电化学">
            <a:extLst xmlns:a="http://schemas.openxmlformats.org/drawingml/2006/main">
              <a:ext uri="{FF2B5EF4-FFF2-40B4-BE49-F238E27FC236}">
                <a16:creationId xmlns:a16="http://schemas.microsoft.com/office/drawing/2014/main" id="{C2C5F7C7-813E-443C-AC00-2E945980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8864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电化学</a:t>
            </a:r>
          </a:p>
        </p:txBody>
      </p:sp>
      <p:sp>
        <p:nvSpPr>
          <p:cNvPr id="35" name="label-颗粒/多孔介质">
            <a:extLst xmlns:a="http://schemas.openxmlformats.org/drawingml/2006/main">
              <a:ext uri="{FF2B5EF4-FFF2-40B4-BE49-F238E27FC236}">
                <a16:creationId xmlns:a16="http://schemas.microsoft.com/office/drawing/2014/main" id="{AB6E8A2D-9C0B-4D3B-A882-BDF89DE1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867400"/>
            <a:ext cx="1371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8D2"/>
          </a:solidFill>
          <a:ln xmlns:a="http://schemas.openxmlformats.org/drawingml/2006/main" w="9525">
            <a:solidFill>
              <a:srgbClr val="FCE8D2"/>
            </a:solidFill>
            <a:prstDash val="solid"/>
          </a:ln>
        </p:spPr>
      </p:sp>
      <p:sp>
        <p:nvSpPr>
          <p:cNvPr id="36" name="label-text-颗粒/多孔介质">
            <a:extLst xmlns:a="http://schemas.openxmlformats.org/drawingml/2006/main">
              <a:ext uri="{FF2B5EF4-FFF2-40B4-BE49-F238E27FC236}">
                <a16:creationId xmlns:a16="http://schemas.microsoft.com/office/drawing/2014/main" id="{36B9ACBB-E221-4B05-A8B7-BFA94822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8864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颗粒/多孔介质</a:t>
            </a:r>
          </a:p>
        </p:txBody>
      </p:sp>
      <p:sp>
        <p:nvSpPr>
          <p:cNvPr id="37" name="b-example">
            <a:extLst xmlns:a="http://schemas.openxmlformats.org/drawingml/2006/main">
              <a:ext uri="{FF2B5EF4-FFF2-40B4-BE49-F238E27FC236}">
                <a16:creationId xmlns:a16="http://schemas.microsoft.com/office/drawing/2014/main" id="{66F16302-1CA6-4A7E-857B-383394D8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504950"/>
            <a:ext cx="5486400" cy="4457700"/>
          </a:xfrm>
          <a:prstGeom xmlns:a="http://schemas.openxmlformats.org/drawingml/2006/main" prst="roundRect">
            <a:avLst>
              <a:gd name="adj" fmla="val 299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38" name="b-example-title">
            <a:extLst xmlns:a="http://schemas.openxmlformats.org/drawingml/2006/main">
              <a:ext uri="{FF2B5EF4-FFF2-40B4-BE49-F238E27FC236}">
                <a16:creationId xmlns:a16="http://schemas.microsoft.com/office/drawing/2014/main" id="{DC66389B-87FF-44BF-B431-C0D51AD2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716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热声耦合示例</a:t>
            </a:r>
          </a:p>
        </p:txBody>
      </p:sp>
      <p:sp>
        <p:nvSpPr>
          <p:cNvPr id="39" name="b-example-copy">
            <a:extLst xmlns:a="http://schemas.openxmlformats.org/drawingml/2006/main">
              <a:ext uri="{FF2B5EF4-FFF2-40B4-BE49-F238E27FC236}">
                <a16:creationId xmlns:a16="http://schemas.microsoft.com/office/drawing/2014/main" id="{7A601DF8-2908-4754-BE07-6F457A3E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6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9E6F0"/>
                </a:solidFill>
                <a:latin typeface="Microsoft YaHei"/>
                <a:ea typeface="Microsoft YaHei"/>
                <a:cs typeface="Microsoft YaHei"/>
              </a:rPr>
              <a:t>背景温度梯度先改变平均温度，再影响有效声速和一阶共振频率。</a:t>
            </a:r>
          </a:p>
        </p:txBody>
      </p:sp>
      <p:sp>
        <p:nvSpPr>
          <p:cNvPr id="40" name="b-eq-1">
            <a:extLst xmlns:a="http://schemas.openxmlformats.org/drawingml/2006/main">
              <a:ext uri="{FF2B5EF4-FFF2-40B4-BE49-F238E27FC236}">
                <a16:creationId xmlns:a16="http://schemas.microsoft.com/office/drawing/2014/main" id="{7C412C60-F07D-441D-9925-9A5AE81D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04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rPr>
              <a:t>c_eff = 343√(T̄ / 293)</a:t>
            </a:r>
          </a:p>
        </p:txBody>
      </p:sp>
      <p:sp>
        <p:nvSpPr>
          <p:cNvPr id="41" name="b-eq-2">
            <a:extLst xmlns:a="http://schemas.openxmlformats.org/drawingml/2006/main">
              <a:ext uri="{FF2B5EF4-FFF2-40B4-BE49-F238E27FC236}">
                <a16:creationId xmlns:a16="http://schemas.microsoft.com/office/drawing/2014/main" id="{E9E72C45-E7A8-44E4-8C90-9AF13473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4A2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4A261"/>
                </a:solidFill>
                <a:latin typeface="Microsoft YaHei"/>
                <a:ea typeface="Microsoft YaHei"/>
                <a:cs typeface="Microsoft YaHei"/>
              </a:rPr>
              <a:t>f₁ = c_eff / (2L)</a:t>
            </a:r>
          </a:p>
        </p:txBody>
      </p:sp>
      <p:sp>
        <p:nvSpPr>
          <p:cNvPr id="42" name="b-example-rule">
            <a:extLst xmlns:a="http://schemas.openxmlformats.org/drawingml/2006/main">
              <a:ext uri="{FF2B5EF4-FFF2-40B4-BE49-F238E27FC236}">
                <a16:creationId xmlns:a16="http://schemas.microsoft.com/office/drawing/2014/main" id="{A8E98D10-BE3F-4A7D-817D-7C61CDAB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3390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36B"/>
            </a:solidFill>
            <a:prstDash val="solid"/>
          </a:ln>
        </p:spPr>
      </p:sp>
      <p:sp>
        <p:nvSpPr>
          <p:cNvPr id="43" name="b-example-output">
            <a:extLst xmlns:a="http://schemas.openxmlformats.org/drawingml/2006/main">
              <a:ext uri="{FF2B5EF4-FFF2-40B4-BE49-F238E27FC236}">
                <a16:creationId xmlns:a16="http://schemas.microsoft.com/office/drawing/2014/main" id="{BDBB0284-7C98-497F-A34A-DF4BBD1D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815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输出：声压驻波、频移方向、热穿透深度、网格收敛</a:t>
            </a:r>
          </a:p>
        </p:txBody>
      </p:sp>
      <p:sp>
        <p:nvSpPr>
          <p:cNvPr id="44" name="b-example-limit">
            <a:extLst xmlns:a="http://schemas.openxmlformats.org/drawingml/2006/main">
              <a:ext uri="{FF2B5EF4-FFF2-40B4-BE49-F238E27FC236}">
                <a16:creationId xmlns:a16="http://schemas.microsoft.com/office/drawing/2014/main" id="{3CF5C73E-F616-49C2-B0A9-6F351048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673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8927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8CA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CAD7"/>
                </a:solidFill>
                <a:latin typeface="Microsoft YaHei"/>
                <a:ea typeface="Microsoft YaHei"/>
                <a:cs typeface="Microsoft YaHei"/>
              </a:rPr>
              <a:t>适用范围由简化假设限定，强非线性和热黏边界层需要 COMSOL 全耦合求解。</a:t>
            </a:r>
          </a:p>
        </p:txBody>
      </p:sp>
      <p:sp>
        <p:nvSpPr>
          <p:cNvPr id="4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E82E259-29FB-40DF-A606-54A83722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F"/>
            </a:solidFill>
            <a:prstDash val="solid"/>
          </a:ln>
        </p:spPr>
      </p:sp>
      <p:sp>
        <p:nvSpPr>
          <p:cNvPr id="4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D3542BCE-2935-49F6-A711-85322E83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rPr>
              <a:t>本地项目文件与运行记录</a:t>
            </a:r>
          </a:p>
        </p:txBody>
      </p:sp>
    </p:spTree>
    <p:extLst>
      <p:ext uri="{BB962C8B-B14F-4D97-AF65-F5344CB8AC3E}">
        <p14:creationId xmlns:p14="http://schemas.microsoft.com/office/powerpoint/2010/main" val="14956942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09D4DF46-B0B8-46FB-9C74-555E89A3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rPr>
              <a:t>COMSOL 本地智能建模与仿真平台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A63541E-44C0-4992-8FDD-F9FA6B9F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两套模型的职责边界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4D887C7-81C6-4AD0-97FC-2C9CA9E0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2387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A12900C5-B7AF-45C1-8051-BE213991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F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4210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486275"/>
                <a:gridCol w="4486275"/>
              </a:tblGrid>
              <a:tr h="60143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</a:t>
                      </a:r>
                    </a:p>
                  </a:txBody>
                  <a:tcPr marL="95250" marR="95250" marT="76200" marB="7620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COMSOL 智能建模工作台</a:t>
                      </a:r>
                    </a:p>
                  </a:txBody>
                  <a:tcPr marL="95250" marR="95250" marT="76200" marB="7620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物理场基准仿真工作台</a:t>
                      </a:r>
                    </a:p>
                  </a:txBody>
                  <a:tcPr marL="95250" marR="95250" marT="76200" marB="76200" anchor="ctr">
                    <a:solidFill>
                      <a:srgbClr val="0B1F33"/>
                    </a:solidFill>
                  </a:tcPr>
                </a:tc>
              </a:tr>
              <a:tr h="6014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核心目标</a:t>
                      </a:r>
                    </a:p>
                  </a:txBody>
                  <a:tcPr marL="95250" marR="95250" marT="76200" marB="762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组织真实 COMSOL 建模、训练与预测</a:t>
                      </a:r>
                    </a:p>
                  </a:txBody>
                  <a:tcPr marL="114300" marR="114300" marT="76200" marB="76200" anchor="ctr">
                    <a:solidFill>
                      <a:srgbClr val="DD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验证公式、参数趋势和基础离散结果</a:t>
                      </a:r>
                    </a:p>
                  </a:txBody>
                  <a:tcPr marL="114300" marR="114300" marT="76200" marB="76200" anchor="ctr">
                    <a:solidFill>
                      <a:srgbClr val="FCE8D2"/>
                    </a:solidFill>
                  </a:tcPr>
                </a:tc>
              </a:tr>
              <a:tr h="6014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主要输入</a:t>
                      </a:r>
                    </a:p>
                  </a:txBody>
                  <a:tcPr marL="95250" marR="95250" marT="76200" marB="762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案例文件、约束、COMSOL CSV、用户需求</a:t>
                      </a:r>
                    </a:p>
                  </a:txBody>
                  <a:tcPr marL="114300" marR="114300" marT="76200" marB="76200" anchor="ctr">
                    <a:solidFill>
                      <a:srgbClr val="DD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物理场名称、几何和材料参数</a:t>
                      </a:r>
                    </a:p>
                  </a:txBody>
                  <a:tcPr marL="114300" marR="114300" marT="76200" marB="76200" anchor="ctr">
                    <a:solidFill>
                      <a:srgbClr val="FCE8D2"/>
                    </a:solidFill>
                  </a:tcPr>
                </a:tc>
              </a:tr>
              <a:tr h="6014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计算方式</a:t>
                      </a:r>
                    </a:p>
                  </a:txBody>
                  <a:tcPr marL="95250" marR="95250" marT="76200" marB="762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规则检索、代码生成、机器学习代理</a:t>
                      </a:r>
                    </a:p>
                  </a:txBody>
                  <a:tcPr marL="114300" marR="114300" marT="76200" marB="76200" anchor="ctr">
                    <a:solidFill>
                      <a:srgbClr val="DD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解析式、一维有限差分、降阶关系</a:t>
                      </a:r>
                    </a:p>
                  </a:txBody>
                  <a:tcPr marL="114300" marR="114300" marT="76200" marB="76200" anchor="ctr">
                    <a:solidFill>
                      <a:srgbClr val="FCE8D2"/>
                    </a:solidFill>
                  </a:tcPr>
                </a:tc>
              </a:tr>
              <a:tr h="6014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主要输出</a:t>
                      </a:r>
                    </a:p>
                  </a:txBody>
                  <a:tcPr marL="95250" marR="95250" marT="76200" marB="762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建模方案、MATLAB/Java、模型卡、预测</a:t>
                      </a:r>
                    </a:p>
                  </a:txBody>
                  <a:tcPr marL="114300" marR="114300" marT="76200" marB="76200" anchor="ctr">
                    <a:solidFill>
                      <a:srgbClr val="DD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曲线、误差、收敛、三维基准结构</a:t>
                      </a:r>
                    </a:p>
                  </a:txBody>
                  <a:tcPr marL="114300" marR="114300" marT="76200" marB="76200" anchor="ctr">
                    <a:solidFill>
                      <a:srgbClr val="FCE8D2"/>
                    </a:solidFill>
                  </a:tcPr>
                </a:tc>
              </a:tr>
              <a:tr h="6014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运行依赖</a:t>
                      </a:r>
                    </a:p>
                  </a:txBody>
                  <a:tcPr marL="95250" marR="95250" marT="76200" marB="762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 3.12；真实求解需要 COMSOL/LiveLink</a:t>
                      </a:r>
                    </a:p>
                  </a:txBody>
                  <a:tcPr marL="114300" marR="114300" marT="76200" marB="76200" anchor="ctr">
                    <a:solidFill>
                      <a:srgbClr val="DD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浏览器即可运行；三维预览使用本地 Three.js</a:t>
                      </a:r>
                    </a:p>
                  </a:txBody>
                  <a:tcPr marL="114300" marR="114300" marT="76200" marB="76200" anchor="ctr">
                    <a:solidFill>
                      <a:srgbClr val="FCE8D2"/>
                    </a:solidFill>
                  </a:tcPr>
                </a:tc>
              </a:tr>
              <a:tr h="6014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F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结果边界</a:t>
                      </a:r>
                    </a:p>
                  </a:txBody>
                  <a:tcPr marL="95250" marR="95250" marT="76200" marB="762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只在验证范围内使用代理模型</a:t>
                      </a:r>
                    </a:p>
                  </a:txBody>
                  <a:tcPr marL="114300" marR="114300" marT="76200" marB="76200" anchor="ctr">
                    <a:solidFill>
                      <a:srgbClr val="DD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结果用于基准检查和教学验证</a:t>
                      </a:r>
                    </a:p>
                  </a:txBody>
                  <a:tcPr marL="114300" marR="114300" marT="76200" marB="76200" anchor="ctr">
                    <a:solidFill>
                      <a:srgbClr val="FCE8D2"/>
                    </a:solidFill>
                  </a:tcPr>
                </a:tc>
              </a:tr>
            </a:tbl>
          </a:graphicData>
        </a:graphic>
      </p:graphicFrame>
      <p:sp>
        <p:nvSpPr>
          <p:cNvPr id="6" name="compare-takeaway">
            <a:extLst xmlns:a="http://schemas.openxmlformats.org/drawingml/2006/main">
              <a:ext uri="{FF2B5EF4-FFF2-40B4-BE49-F238E27FC236}">
                <a16:creationId xmlns:a16="http://schemas.microsoft.com/office/drawing/2014/main" id="{CC6FD970-119E-4775-948B-21D0F5A5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43600"/>
            <a:ext cx="1021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两者共同使用同一套物理边界意识：简化模型负责发现问题，真实 COMSOL 数据负责确认结果。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6CE16E3-A8CB-44AD-A5C1-A595BFC2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F"/>
            </a:solidFill>
            <a:prstDash val="solid"/>
          </a:ln>
        </p:spPr>
      </p:sp>
      <p:sp>
        <p:nvSpPr>
          <p:cNvPr id="8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044DD704-780D-4276-9DBF-713D2265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rPr>
              <a:t>本地项目文件与运行记录</a:t>
            </a:r>
          </a:p>
        </p:txBody>
      </p:sp>
    </p:spTree>
    <p:extLst>
      <p:ext uri="{BB962C8B-B14F-4D97-AF65-F5344CB8AC3E}">
        <p14:creationId xmlns:p14="http://schemas.microsoft.com/office/powerpoint/2010/main" val="15779706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kicker">
            <a:extLst xmlns:a="http://schemas.openxmlformats.org/drawingml/2006/main">
              <a:ext uri="{FF2B5EF4-FFF2-40B4-BE49-F238E27FC236}">
                <a16:creationId xmlns:a16="http://schemas.microsoft.com/office/drawing/2014/main" id="{CB292632-96CB-46B0-A1D2-B0436067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rPr>
              <a:t>COMSOL 本地智能建模与仿真平台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388A5E-CAEC-42B8-ADB1-B1820659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两套模型的协同工作流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01B9D5D-548D-4654-9473-1B70346C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2387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211972D2-421A-4B9C-9E3D-D118BC90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F"/>
            </a:solidFill>
            <a:prstDash val="solid"/>
          </a:ln>
        </p:spPr>
      </p:sp>
      <p:sp>
        <p:nvSpPr>
          <p:cNvPr id="5" name="flow-1">
            <a:extLst xmlns:a="http://schemas.openxmlformats.org/drawingml/2006/main">
              <a:ext uri="{FF2B5EF4-FFF2-40B4-BE49-F238E27FC236}">
                <a16:creationId xmlns:a16="http://schemas.microsoft.com/office/drawing/2014/main" id="{3CC31369-F465-487B-A4BB-9F254CCE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85900"/>
            <a:ext cx="8382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AD5DF"/>
            </a:solidFill>
            <a:prstDash val="solid"/>
          </a:ln>
        </p:spPr>
      </p:sp>
      <p:sp>
        <p:nvSpPr>
          <p:cNvPr id="6" name="flow-num-1">
            <a:extLst xmlns:a="http://schemas.openxmlformats.org/drawingml/2006/main">
              <a:ext uri="{FF2B5EF4-FFF2-40B4-BE49-F238E27FC236}">
                <a16:creationId xmlns:a16="http://schemas.microsoft.com/office/drawing/2014/main" id="{08DC0F58-39F6-41FD-BEC2-58747991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5621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C95C6449-7363-4B24-B252-73463D8C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5621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物理问题</a:t>
            </a:r>
          </a:p>
        </p:txBody>
      </p:sp>
      <p:sp>
        <p:nvSpPr>
          <p:cNvPr id="8" name="flow-copy-1">
            <a:extLst xmlns:a="http://schemas.openxmlformats.org/drawingml/2006/main">
              <a:ext uri="{FF2B5EF4-FFF2-40B4-BE49-F238E27FC236}">
                <a16:creationId xmlns:a16="http://schemas.microsoft.com/office/drawing/2014/main" id="{9C9A38AC-8CF9-4B60-A7E2-3EBD1B80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5621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明确目标量、参数和假设</a:t>
            </a:r>
          </a:p>
        </p:txBody>
      </p:sp>
      <p:sp>
        <p:nvSpPr>
          <p:cNvPr id="9" name="flow-2">
            <a:extLst xmlns:a="http://schemas.openxmlformats.org/drawingml/2006/main">
              <a:ext uri="{FF2B5EF4-FFF2-40B4-BE49-F238E27FC236}">
                <a16:creationId xmlns:a16="http://schemas.microsoft.com/office/drawing/2014/main" id="{51AD9588-5E8C-4FFE-94F5-948F2D87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28850"/>
            <a:ext cx="8382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CE8D2"/>
          </a:solidFill>
          <a:ln xmlns:a="http://schemas.openxmlformats.org/drawingml/2006/main" w="9525">
            <a:solidFill>
              <a:srgbClr val="F4A261"/>
            </a:solidFill>
            <a:prstDash val="solid"/>
          </a:ln>
        </p:spPr>
      </p:sp>
      <p:sp>
        <p:nvSpPr>
          <p:cNvPr id="10" name="flow-num-2">
            <a:extLst xmlns:a="http://schemas.openxmlformats.org/drawingml/2006/main">
              <a:ext uri="{FF2B5EF4-FFF2-40B4-BE49-F238E27FC236}">
                <a16:creationId xmlns:a16="http://schemas.microsoft.com/office/drawing/2014/main" id="{1F2C4311-3ACC-49EB-88C3-BD839948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050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BAA6F5EC-6F47-4C22-9D58-FE3EEBE3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050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基准验证</a:t>
            </a:r>
          </a:p>
        </p:txBody>
      </p:sp>
      <p:sp>
        <p:nvSpPr>
          <p:cNvPr id="12" name="flow-copy-2">
            <a:extLst xmlns:a="http://schemas.openxmlformats.org/drawingml/2006/main">
              <a:ext uri="{FF2B5EF4-FFF2-40B4-BE49-F238E27FC236}">
                <a16:creationId xmlns:a16="http://schemas.microsoft.com/office/drawing/2014/main" id="{B86263D3-519B-478F-89A0-7BECBA1A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050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模型 B 检查公式、量纲与趋势</a:t>
            </a:r>
          </a:p>
        </p:txBody>
      </p:sp>
      <p:cxnSp>
        <p:nvCxnSpPr>
          <p:cNvPr id="50" name=""/>
          <p:cNvCxnSpPr>
            <a:stCxn xmlns:a="http://schemas.openxmlformats.org/drawingml/2006/main" id="5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5334000" y="2038350"/>
            <a:ext cx="1047750" cy="190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17181"/>
            </a:solidFill>
            <a:prstDash val="solid"/>
            <a:tailEnd type="triangle" w="sm" len="sm"/>
          </a:ln>
        </p:spPr>
      </p:cxnSp>
      <p:sp>
        <p:nvSpPr>
          <p:cNvPr id="14" name="flow-3">
            <a:extLst xmlns:a="http://schemas.openxmlformats.org/drawingml/2006/main">
              <a:ext uri="{FF2B5EF4-FFF2-40B4-BE49-F238E27FC236}">
                <a16:creationId xmlns:a16="http://schemas.microsoft.com/office/drawing/2014/main" id="{56908CAC-958E-4961-9B5D-C02B943D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8382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DF4F9"/>
          </a:solidFill>
          <a:ln xmlns:a="http://schemas.openxmlformats.org/drawingml/2006/main" w="9525">
            <a:solidFill>
              <a:srgbClr val="2BB3D6"/>
            </a:solidFill>
            <a:prstDash val="solid"/>
          </a:ln>
        </p:spPr>
      </p:sp>
      <p:sp>
        <p:nvSpPr>
          <p:cNvPr id="15" name="flow-num-3">
            <a:extLst xmlns:a="http://schemas.openxmlformats.org/drawingml/2006/main">
              <a:ext uri="{FF2B5EF4-FFF2-40B4-BE49-F238E27FC236}">
                <a16:creationId xmlns:a16="http://schemas.microsoft.com/office/drawing/2014/main" id="{360372F1-113F-4FF2-A2FD-1428103D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480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1FBB7524-CE11-4129-961E-5334B840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0480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模型生成</a:t>
            </a:r>
          </a:p>
        </p:txBody>
      </p:sp>
      <p:sp>
        <p:nvSpPr>
          <p:cNvPr id="17" name="flow-copy-3">
            <a:extLst xmlns:a="http://schemas.openxmlformats.org/drawingml/2006/main">
              <a:ext uri="{FF2B5EF4-FFF2-40B4-BE49-F238E27FC236}">
                <a16:creationId xmlns:a16="http://schemas.microsoft.com/office/drawing/2014/main" id="{436ACBF1-BBA4-441E-9751-94B665F5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480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模型 A 形成约束和 COMSOL 代码</a:t>
            </a:r>
          </a:p>
        </p:txBody>
      </p:sp>
      <p:cxnSp>
        <p:nvCxnSpPr>
          <p:cNvPr id="55" name=""/>
          <p:cNvCxnSpPr>
            <a:stCxn xmlns:a="http://schemas.openxmlformats.org/drawingml/2006/main" id="9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5334000" y="2781300"/>
            <a:ext cx="1047750" cy="190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17181"/>
            </a:solidFill>
            <a:prstDash val="solid"/>
            <a:tailEnd type="triangle" w="sm" len="sm"/>
          </a:ln>
        </p:spPr>
      </p:cxnSp>
      <p:sp>
        <p:nvSpPr>
          <p:cNvPr id="19" name="flow-4">
            <a:extLst xmlns:a="http://schemas.openxmlformats.org/drawingml/2006/main">
              <a:ext uri="{FF2B5EF4-FFF2-40B4-BE49-F238E27FC236}">
                <a16:creationId xmlns:a16="http://schemas.microsoft.com/office/drawing/2014/main" id="{119B1D1C-27AB-40FE-9AB0-F9D515E6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14750"/>
            <a:ext cx="8382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20" name="flow-num-4">
            <a:extLst xmlns:a="http://schemas.openxmlformats.org/drawingml/2006/main">
              <a:ext uri="{FF2B5EF4-FFF2-40B4-BE49-F238E27FC236}">
                <a16:creationId xmlns:a16="http://schemas.microsoft.com/office/drawing/2014/main" id="{954D402F-F6EF-4C3F-9923-FB7FFB19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909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C99D10A8-ED51-4616-B461-0EDD186E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909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真实求解</a:t>
            </a:r>
          </a:p>
        </p:txBody>
      </p:sp>
      <p:sp>
        <p:nvSpPr>
          <p:cNvPr id="22" name="flow-copy-4">
            <a:extLst xmlns:a="http://schemas.openxmlformats.org/drawingml/2006/main">
              <a:ext uri="{FF2B5EF4-FFF2-40B4-BE49-F238E27FC236}">
                <a16:creationId xmlns:a16="http://schemas.microsoft.com/office/drawing/2014/main" id="{640CFCA7-C349-415E-BCB2-DE39955F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909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COMSOL 输出 MPH 与扫描 CSV</a:t>
            </a:r>
          </a:p>
        </p:txBody>
      </p:sp>
      <p:cxnSp>
        <p:nvCxnSpPr>
          <p:cNvPr id="60" name=""/>
          <p:cNvCxnSpPr>
            <a:stCxn xmlns:a="http://schemas.openxmlformats.org/drawingml/2006/main" id="14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5334000" y="3524250"/>
            <a:ext cx="1047750" cy="190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17181"/>
            </a:solidFill>
            <a:prstDash val="solid"/>
            <a:tailEnd type="triangle" w="sm" len="sm"/>
          </a:ln>
        </p:spPr>
      </p:cxnSp>
      <p:sp>
        <p:nvSpPr>
          <p:cNvPr id="24" name="flow-5">
            <a:extLst xmlns:a="http://schemas.openxmlformats.org/drawingml/2006/main">
              <a:ext uri="{FF2B5EF4-FFF2-40B4-BE49-F238E27FC236}">
                <a16:creationId xmlns:a16="http://schemas.microsoft.com/office/drawing/2014/main" id="{A0CA1F10-2073-449D-B1E2-6794A1BB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8382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25" name="flow-num-5">
            <a:extLst xmlns:a="http://schemas.openxmlformats.org/drawingml/2006/main">
              <a:ext uri="{FF2B5EF4-FFF2-40B4-BE49-F238E27FC236}">
                <a16:creationId xmlns:a16="http://schemas.microsoft.com/office/drawing/2014/main" id="{7B0A1078-718D-4B4E-916D-1980D5D5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339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flow-title-5">
            <a:extLst xmlns:a="http://schemas.openxmlformats.org/drawingml/2006/main">
              <a:ext uri="{FF2B5EF4-FFF2-40B4-BE49-F238E27FC236}">
                <a16:creationId xmlns:a16="http://schemas.microsoft.com/office/drawing/2014/main" id="{D110B735-A89D-4B81-A11E-CB72D559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5339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训练验证</a:t>
            </a:r>
          </a:p>
        </p:txBody>
      </p:sp>
      <p:sp>
        <p:nvSpPr>
          <p:cNvPr id="27" name="flow-copy-5">
            <a:extLst xmlns:a="http://schemas.openxmlformats.org/drawingml/2006/main">
              <a:ext uri="{FF2B5EF4-FFF2-40B4-BE49-F238E27FC236}">
                <a16:creationId xmlns:a16="http://schemas.microsoft.com/office/drawing/2014/main" id="{CBA9FF5A-CE9B-4E0B-B0F7-818F2889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339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模型 A 选择算法并验证留出集</a:t>
            </a:r>
          </a:p>
        </p:txBody>
      </p:sp>
      <p:cxnSp>
        <p:nvCxnSpPr>
          <p:cNvPr id="65" name=""/>
          <p:cNvCxnSpPr>
            <a:stCxn xmlns:a="http://schemas.openxmlformats.org/drawingml/2006/main" id="19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 flipH="1">
            <a:off x="5334000" y="4267200"/>
            <a:ext cx="1047750" cy="190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17181"/>
            </a:solidFill>
            <a:prstDash val="solid"/>
            <a:tailEnd type="triangle" w="sm" len="sm"/>
          </a:ln>
        </p:spPr>
      </p:cxnSp>
      <p:sp>
        <p:nvSpPr>
          <p:cNvPr id="29" name="flow-6">
            <a:extLst xmlns:a="http://schemas.openxmlformats.org/drawingml/2006/main">
              <a:ext uri="{FF2B5EF4-FFF2-40B4-BE49-F238E27FC236}">
                <a16:creationId xmlns:a16="http://schemas.microsoft.com/office/drawing/2014/main" id="{E925FC39-EAF1-424F-AD23-6BEAA27A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00650"/>
            <a:ext cx="8382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AD5DF"/>
            </a:solidFill>
            <a:prstDash val="solid"/>
          </a:ln>
        </p:spPr>
      </p:sp>
      <p:sp>
        <p:nvSpPr>
          <p:cNvPr id="30" name="flow-num-6">
            <a:extLst xmlns:a="http://schemas.openxmlformats.org/drawingml/2006/main">
              <a:ext uri="{FF2B5EF4-FFF2-40B4-BE49-F238E27FC236}">
                <a16:creationId xmlns:a16="http://schemas.microsoft.com/office/drawing/2014/main" id="{F9EA0B76-D293-4E7E-A5AD-FF2E9209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768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1" name="flow-title-6">
            <a:extLst xmlns:a="http://schemas.openxmlformats.org/drawingml/2006/main">
              <a:ext uri="{FF2B5EF4-FFF2-40B4-BE49-F238E27FC236}">
                <a16:creationId xmlns:a16="http://schemas.microsoft.com/office/drawing/2014/main" id="{CF6AE638-6778-44F5-8394-5BB2B850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2768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快速使用</a:t>
            </a:r>
          </a:p>
        </p:txBody>
      </p:sp>
      <p:sp>
        <p:nvSpPr>
          <p:cNvPr id="32" name="flow-copy-6">
            <a:extLst xmlns:a="http://schemas.openxmlformats.org/drawingml/2006/main">
              <a:ext uri="{FF2B5EF4-FFF2-40B4-BE49-F238E27FC236}">
                <a16:creationId xmlns:a16="http://schemas.microsoft.com/office/drawing/2014/main" id="{26E7E0E9-2239-46F5-B321-11B34663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768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433"/>
                </a:solidFill>
                <a:latin typeface="Microsoft YaHei"/>
                <a:ea typeface="Microsoft YaHei"/>
                <a:cs typeface="Microsoft YaHei"/>
              </a:rPr>
              <a:t>范围内预测；越界后补样</a:t>
            </a:r>
          </a:p>
        </p:txBody>
      </p:sp>
      <p:cxnSp>
        <p:nvCxnSpPr>
          <p:cNvPr id="70" name=""/>
          <p:cNvCxnSpPr>
            <a:stCxn xmlns:a="http://schemas.openxmlformats.org/drawingml/2006/main" id="24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5334000" y="5010150"/>
            <a:ext cx="1047750" cy="190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17181"/>
            </a:solidFill>
            <a:prstDash val="solid"/>
            <a:tailEnd type="triangle" w="sm" len="sm"/>
          </a:ln>
        </p:spPr>
      </p:cxnSp>
      <p:sp>
        <p:nvSpPr>
          <p:cNvPr id="34" name="flow-b-side">
            <a:extLst xmlns:a="http://schemas.openxmlformats.org/drawingml/2006/main">
              <a:ext uri="{FF2B5EF4-FFF2-40B4-BE49-F238E27FC236}">
                <a16:creationId xmlns:a16="http://schemas.microsoft.com/office/drawing/2014/main" id="{D60299BD-416F-4C46-A719-0CC4149B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A2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4A261"/>
                </a:solidFill>
                <a:latin typeface="Microsoft YaHei"/>
                <a:ea typeface="Microsoft YaHei"/>
                <a:cs typeface="Microsoft YaHei"/>
              </a:rPr>
              <a:t>模型 B 提供计算参照</a:t>
            </a:r>
          </a:p>
        </p:txBody>
      </p:sp>
      <p:sp>
        <p:nvSpPr>
          <p:cNvPr id="35" name="flow-a-side">
            <a:extLst xmlns:a="http://schemas.openxmlformats.org/drawingml/2006/main">
              <a:ext uri="{FF2B5EF4-FFF2-40B4-BE49-F238E27FC236}">
                <a16:creationId xmlns:a16="http://schemas.microsoft.com/office/drawing/2014/main" id="{1852084F-B986-4F61-97DB-118E5BF3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575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rPr>
              <a:t>模型 A 管理工程闭环</a:t>
            </a:r>
          </a:p>
        </p:txBody>
      </p:sp>
      <p:sp>
        <p:nvSpPr>
          <p:cNvPr id="3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756DFB8-2597-4B48-A10D-44CBC37C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F"/>
            </a:solidFill>
            <a:prstDash val="solid"/>
          </a:ln>
        </p:spPr>
      </p:sp>
      <p:sp>
        <p:nvSpPr>
          <p:cNvPr id="37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1C218D90-D6CA-4408-9648-A2A5764C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rPr>
              <a:t>本地项目文件与运行记录</a:t>
            </a:r>
          </a:p>
        </p:txBody>
      </p:sp>
    </p:spTree>
    <p:extLst>
      <p:ext uri="{BB962C8B-B14F-4D97-AF65-F5344CB8AC3E}">
        <p14:creationId xmlns:p14="http://schemas.microsoft.com/office/powerpoint/2010/main" val="16835475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last-kicker">
            <a:extLst xmlns:a="http://schemas.openxmlformats.org/drawingml/2006/main">
              <a:ext uri="{FF2B5EF4-FFF2-40B4-BE49-F238E27FC236}">
                <a16:creationId xmlns:a16="http://schemas.microsoft.com/office/drawing/2014/main" id="{FD982DC1-C0EF-4298-BB81-E5E512CF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rPr>
              <a:t>COMSOL 本地智能建模与仿真平台</a:t>
            </a:r>
          </a:p>
        </p:txBody>
      </p:sp>
      <p:sp>
        <p:nvSpPr>
          <p:cNvPr id="2" name="last-title">
            <a:extLst xmlns:a="http://schemas.openxmlformats.org/drawingml/2006/main">
              <a:ext uri="{FF2B5EF4-FFF2-40B4-BE49-F238E27FC236}">
                <a16:creationId xmlns:a16="http://schemas.microsoft.com/office/drawing/2014/main" id="{C156B41D-E642-4D46-B21F-DE6D8F43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当前状态与下一步</a:t>
            </a:r>
          </a:p>
        </p:txBody>
      </p:sp>
      <p:sp>
        <p:nvSpPr>
          <p:cNvPr id="3" name="last-number">
            <a:extLst xmlns:a="http://schemas.openxmlformats.org/drawingml/2006/main">
              <a:ext uri="{FF2B5EF4-FFF2-40B4-BE49-F238E27FC236}">
                <a16:creationId xmlns:a16="http://schemas.microsoft.com/office/drawing/2014/main" id="{06FB4E4F-AD1F-4C44-B922-912CBB0F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5245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DB2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DB2C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last-rule">
            <a:extLst xmlns:a="http://schemas.openxmlformats.org/drawingml/2006/main">
              <a:ext uri="{FF2B5EF4-FFF2-40B4-BE49-F238E27FC236}">
                <a16:creationId xmlns:a16="http://schemas.microsoft.com/office/drawing/2014/main" id="{A08717C7-9D7D-4427-A5CC-CDB26847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36B"/>
            </a:solidFill>
            <a:prstDash val="solid"/>
          </a:ln>
        </p:spPr>
      </p:sp>
      <p:sp>
        <p:nvSpPr>
          <p:cNvPr id="5" name="last-done-title">
            <a:extLst xmlns:a="http://schemas.openxmlformats.org/drawingml/2006/main">
              <a:ext uri="{FF2B5EF4-FFF2-40B4-BE49-F238E27FC236}">
                <a16:creationId xmlns:a16="http://schemas.microsoft.com/office/drawing/2014/main" id="{FFDFA959-13B1-444E-817E-830F050F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rPr>
              <a:t>已经具备</a:t>
            </a:r>
          </a:p>
        </p:txBody>
      </p:sp>
      <p:sp>
        <p:nvSpPr>
          <p:cNvPr id="6" name="last-done-copy">
            <a:extLst xmlns:a="http://schemas.openxmlformats.org/drawingml/2006/main">
              <a:ext uri="{FF2B5EF4-FFF2-40B4-BE49-F238E27FC236}">
                <a16:creationId xmlns:a16="http://schemas.microsoft.com/office/drawing/2014/main" id="{156E8E64-D410-47EF-89E2-9584B02F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4572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两套本地网页系统可运行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案例证据、代码生成和训练流程已连通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29 个代理模型条目已迁移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物理场基准台覆盖 14 类领域</a:t>
            </a:r>
          </a:p>
        </p:txBody>
      </p:sp>
      <p:sp>
        <p:nvSpPr>
          <p:cNvPr id="7" name="last-limit-title">
            <a:extLst xmlns:a="http://schemas.openxmlformats.org/drawingml/2006/main">
              <a:ext uri="{FF2B5EF4-FFF2-40B4-BE49-F238E27FC236}">
                <a16:creationId xmlns:a16="http://schemas.microsoft.com/office/drawing/2014/main" id="{A090C04C-9D1B-41A7-8574-369401E9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A2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4A261"/>
                </a:solidFill>
                <a:latin typeface="Microsoft YaHei"/>
                <a:ea typeface="Microsoft YaHei"/>
                <a:cs typeface="Microsoft YaHei"/>
              </a:rPr>
              <a:t>当前限制</a:t>
            </a:r>
          </a:p>
        </p:txBody>
      </p:sp>
      <p:sp>
        <p:nvSpPr>
          <p:cNvPr id="8" name="last-limit-copy">
            <a:extLst xmlns:a="http://schemas.openxmlformats.org/drawingml/2006/main">
              <a:ext uri="{FF2B5EF4-FFF2-40B4-BE49-F238E27FC236}">
                <a16:creationId xmlns:a16="http://schemas.microsoft.com/office/drawing/2014/main" id="{F1786CB9-DD19-44F5-ABA2-045D5A1F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4953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6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9E6F0"/>
                </a:solidFill>
                <a:latin typeface="Microsoft YaHei"/>
                <a:ea typeface="Microsoft YaHei"/>
                <a:cs typeface="Microsoft YaHei"/>
              </a:rPr>
              <a:t>• COMSOL 外部自动执行保持关闭</a:t>
            </a:r>
          </a:p>
          <a:p xmlns:a="http://schemas.openxmlformats.org/drawingml/2006/main">
            <a:pPr algn="l">
              <a:defRPr sz="1425" b="0">
                <a:solidFill>
                  <a:srgbClr val="D9E6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9E6F0"/>
                </a:solidFill>
                <a:latin typeface="Microsoft YaHei"/>
                <a:ea typeface="Microsoft YaHei"/>
                <a:cs typeface="Microsoft YaHei"/>
              </a:rPr>
              <a:t>• COMSOL 6.4 与 MATLAB R2023b 的 LiveLink 版本不匹配</a:t>
            </a:r>
          </a:p>
          <a:p xmlns:a="http://schemas.openxmlformats.org/drawingml/2006/main">
            <a:pPr algn="l">
              <a:defRPr sz="1425" b="0">
                <a:solidFill>
                  <a:srgbClr val="D9E6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9E6F0"/>
                </a:solidFill>
                <a:latin typeface="Microsoft YaHei"/>
                <a:ea typeface="Microsoft YaHei"/>
                <a:cs typeface="Microsoft YaHei"/>
              </a:rPr>
              <a:t>• 一维和降阶结果不能替代复杂三维有限元</a:t>
            </a:r>
          </a:p>
          <a:p xmlns:a="http://schemas.openxmlformats.org/drawingml/2006/main">
            <a:pPr algn="l">
              <a:defRPr sz="1425" b="0">
                <a:solidFill>
                  <a:srgbClr val="D9E6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9E6F0"/>
                </a:solidFill>
                <a:latin typeface="Microsoft YaHei"/>
                <a:ea typeface="Microsoft YaHei"/>
                <a:cs typeface="Microsoft YaHei"/>
              </a:rPr>
              <a:t>• 代理模型只在模型卡声明范围内有效</a:t>
            </a:r>
          </a:p>
        </p:txBody>
      </p:sp>
      <p:sp>
        <p:nvSpPr>
          <p:cNvPr id="9" name="last-roadmap">
            <a:extLst xmlns:a="http://schemas.openxmlformats.org/drawingml/2006/main">
              <a:ext uri="{FF2B5EF4-FFF2-40B4-BE49-F238E27FC236}">
                <a16:creationId xmlns:a16="http://schemas.microsoft.com/office/drawing/2014/main" id="{BF2D5BA6-C216-4F26-B5A7-1D96F032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62100"/>
            <a:ext cx="5219700" cy="4514850"/>
          </a:xfrm>
          <a:prstGeom xmlns:a="http://schemas.openxmlformats.org/drawingml/2006/main" prst="roundRect">
            <a:avLst>
              <a:gd name="adj" fmla="val 29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last-roadmap-title">
            <a:extLst xmlns:a="http://schemas.openxmlformats.org/drawingml/2006/main">
              <a:ext uri="{FF2B5EF4-FFF2-40B4-BE49-F238E27FC236}">
                <a16:creationId xmlns:a16="http://schemas.microsoft.com/office/drawing/2014/main" id="{58CF32A8-920C-4E7F-98BF-BD230BC1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097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建议的三项工作</a:t>
            </a:r>
          </a:p>
        </p:txBody>
      </p:sp>
      <p:sp>
        <p:nvSpPr>
          <p:cNvPr id="11" name="roadmap-num-1">
            <a:extLst xmlns:a="http://schemas.openxmlformats.org/drawingml/2006/main">
              <a:ext uri="{FF2B5EF4-FFF2-40B4-BE49-F238E27FC236}">
                <a16:creationId xmlns:a16="http://schemas.microsoft.com/office/drawing/2014/main" id="{21746D78-31B7-4A5E-842F-D4244ED8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7650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B3D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roadmap-title-1">
            <a:extLst xmlns:a="http://schemas.openxmlformats.org/drawingml/2006/main">
              <a:ext uri="{FF2B5EF4-FFF2-40B4-BE49-F238E27FC236}">
                <a16:creationId xmlns:a16="http://schemas.microsoft.com/office/drawing/2014/main" id="{09939C2D-5CB9-410E-AE64-B2D44FDB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76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8956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打通版本匹配的 COMSOL + MATLAB 基准求解</a:t>
            </a:r>
          </a:p>
        </p:txBody>
      </p:sp>
      <p:sp>
        <p:nvSpPr>
          <p:cNvPr id="13" name="roadmap-copy-1">
            <a:extLst xmlns:a="http://schemas.openxmlformats.org/drawingml/2006/main">
              <a:ext uri="{FF2B5EF4-FFF2-40B4-BE49-F238E27FC236}">
                <a16:creationId xmlns:a16="http://schemas.microsoft.com/office/drawing/2014/main" id="{44A6AFA7-6B95-4762-8414-0826D6C5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5750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rPr>
              <a:t>先验证一个声学或传热案例的完整闭环</a:t>
            </a:r>
          </a:p>
        </p:txBody>
      </p:sp>
      <p:sp>
        <p:nvSpPr>
          <p:cNvPr id="14" name="roadmap-rule-1">
            <a:extLst xmlns:a="http://schemas.openxmlformats.org/drawingml/2006/main">
              <a:ext uri="{FF2B5EF4-FFF2-40B4-BE49-F238E27FC236}">
                <a16:creationId xmlns:a16="http://schemas.microsoft.com/office/drawing/2014/main" id="{66A00393-556C-4D38-AD31-F1111428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290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F"/>
            </a:solidFill>
            <a:prstDash val="solid"/>
          </a:ln>
        </p:spPr>
      </p:sp>
      <p:sp>
        <p:nvSpPr>
          <p:cNvPr id="15" name="roadmap-num-2">
            <a:extLst xmlns:a="http://schemas.openxmlformats.org/drawingml/2006/main">
              <a:ext uri="{FF2B5EF4-FFF2-40B4-BE49-F238E27FC236}">
                <a16:creationId xmlns:a16="http://schemas.microsoft.com/office/drawing/2014/main" id="{9A18BE38-398C-4D0A-B357-327C725F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8140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roadmap-title-2">
            <a:extLst xmlns:a="http://schemas.openxmlformats.org/drawingml/2006/main">
              <a:ext uri="{FF2B5EF4-FFF2-40B4-BE49-F238E27FC236}">
                <a16:creationId xmlns:a16="http://schemas.microsoft.com/office/drawing/2014/main" id="{05D59CA8-8FB6-4AF2-9F4B-5964BA16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814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收敛代理模型版本</a:t>
            </a:r>
          </a:p>
        </p:txBody>
      </p:sp>
      <p:sp>
        <p:nvSpPr>
          <p:cNvPr id="17" name="roadmap-copy-2">
            <a:extLst xmlns:a="http://schemas.openxmlformats.org/drawingml/2006/main">
              <a:ext uri="{FF2B5EF4-FFF2-40B4-BE49-F238E27FC236}">
                <a16:creationId xmlns:a16="http://schemas.microsoft.com/office/drawing/2014/main" id="{29947046-4B5E-4D08-BCF8-A4C0C5F2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6240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rPr>
              <a:t>为重复条目标记活动版本和历史版本</a:t>
            </a:r>
          </a:p>
        </p:txBody>
      </p:sp>
      <p:sp>
        <p:nvSpPr>
          <p:cNvPr id="18" name="roadmap-rule-2">
            <a:extLst xmlns:a="http://schemas.openxmlformats.org/drawingml/2006/main">
              <a:ext uri="{FF2B5EF4-FFF2-40B4-BE49-F238E27FC236}">
                <a16:creationId xmlns:a16="http://schemas.microsoft.com/office/drawing/2014/main" id="{A8D1F1E8-865A-417D-8186-8739EE8B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339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F"/>
            </a:solidFill>
            <a:prstDash val="solid"/>
          </a:ln>
        </p:spPr>
      </p:sp>
      <p:sp>
        <p:nvSpPr>
          <p:cNvPr id="19" name="roadmap-num-3">
            <a:extLst xmlns:a="http://schemas.openxmlformats.org/drawingml/2006/main">
              <a:ext uri="{FF2B5EF4-FFF2-40B4-BE49-F238E27FC236}">
                <a16:creationId xmlns:a16="http://schemas.microsoft.com/office/drawing/2014/main" id="{7F1CF440-FADE-480E-B999-706E380D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8630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A2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A26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roadmap-title-3">
            <a:extLst xmlns:a="http://schemas.openxmlformats.org/drawingml/2006/main">
              <a:ext uri="{FF2B5EF4-FFF2-40B4-BE49-F238E27FC236}">
                <a16:creationId xmlns:a16="http://schemas.microsoft.com/office/drawing/2014/main" id="{86C92BA9-EE7B-487E-8E4D-7A5DE528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6863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建立组会演示案例</a:t>
            </a:r>
          </a:p>
        </p:txBody>
      </p:sp>
      <p:sp>
        <p:nvSpPr>
          <p:cNvPr id="21" name="roadmap-copy-3">
            <a:extLst xmlns:a="http://schemas.openxmlformats.org/drawingml/2006/main">
              <a:ext uri="{FF2B5EF4-FFF2-40B4-BE49-F238E27FC236}">
                <a16:creationId xmlns:a16="http://schemas.microsoft.com/office/drawing/2014/main" id="{283E5613-50DA-4B04-94E6-CC39C5F8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06730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7181"/>
                </a:solidFill>
                <a:latin typeface="Microsoft YaHei"/>
                <a:ea typeface="Microsoft YaHei"/>
                <a:cs typeface="Microsoft YaHei"/>
              </a:rPr>
              <a:t>固定一个输入、完整模型、CSV、验证和网页预测流程</a:t>
            </a:r>
          </a:p>
        </p:txBody>
      </p:sp>
      <p:sp>
        <p:nvSpPr>
          <p:cNvPr id="22" name="last-conclusion">
            <a:extLst xmlns:a="http://schemas.openxmlformats.org/drawingml/2006/main">
              <a:ext uri="{FF2B5EF4-FFF2-40B4-BE49-F238E27FC236}">
                <a16:creationId xmlns:a16="http://schemas.microsoft.com/office/drawing/2014/main" id="{C495982E-DDB7-4E6E-88F6-D3BA402E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67450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结论：两套系统已经形成“基准检查、真实求解、代理预测”的清晰分工。</a:t>
            </a:r>
          </a:p>
        </p:txBody>
      </p:sp>
    </p:spTree>
    <p:extLst>
      <p:ext uri="{BB962C8B-B14F-4D97-AF65-F5344CB8AC3E}">
        <p14:creationId xmlns:p14="http://schemas.microsoft.com/office/powerpoint/2010/main" val="2912443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2026-09-22T10:23:53.5770000Z</dcterms:created>
  <dcterms:modified xsi:type="dcterms:W3CDTF">2026-09-22T10:23:53.5770000Z</dcterms:modified>
</coreProperties>
</file>